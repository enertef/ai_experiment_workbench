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</p:sldMasterIdLst>
  <p:sldIdLst>
    <p:sldId id="2147376196" r:id="rId5"/>
    <p:sldId id="2147376197" r:id="rId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a Roth" initials="LR" lastIdx="2" clrIdx="0">
    <p:extLst>
      <p:ext uri="{19B8F6BF-5375-455C-9EA6-DF929625EA0E}">
        <p15:presenceInfo xmlns:p15="http://schemas.microsoft.com/office/powerpoint/2012/main" userId="S::4n8jfauju59nreq3@m365.rwth-aachen.de::ac4a4329-9c77-496d-99ac-2390766707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0F30"/>
    <a:srgbClr val="C83BD0"/>
    <a:srgbClr val="45C4EF"/>
    <a:srgbClr val="596DFF"/>
    <a:srgbClr val="DE89E3"/>
    <a:srgbClr val="FFFFFF"/>
    <a:srgbClr val="AD4000"/>
    <a:srgbClr val="FF985B"/>
    <a:srgbClr val="6A5ACD"/>
    <a:srgbClr val="468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16FCC6-D202-99D4-3F16-36FB9F5611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245" y="3369470"/>
            <a:ext cx="8346782" cy="713581"/>
          </a:xfrm>
          <a:prstGeom prst="rect">
            <a:avLst/>
          </a:prstGeom>
        </p:spPr>
        <p:txBody>
          <a:bodyPr/>
          <a:lstStyle>
            <a:lvl1pPr marL="0" indent="0" algn="l" defTabSz="228555" rtl="0" eaLnBrk="1" latinLnBrk="0" hangingPunct="1">
              <a:buNone/>
              <a:defRPr lang="en-US" sz="5200" kern="12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6957AF-B095-41C4-A5E4-C8F5A298B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7249" y="4118611"/>
            <a:ext cx="6650018" cy="713581"/>
          </a:xfrm>
          <a:prstGeom prst="rect">
            <a:avLst/>
          </a:prstGeom>
        </p:spPr>
        <p:txBody>
          <a:bodyPr/>
          <a:lstStyle>
            <a:lvl1pPr marL="0" indent="0" algn="l" defTabSz="228555" rtl="0" eaLnBrk="1" latinLnBrk="0" hangingPunct="1">
              <a:buNone/>
              <a:defRPr lang="en-US" sz="2200" kern="1200" dirty="0">
                <a:solidFill>
                  <a:srgbClr val="202020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356956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FDC9D0C-91FE-92C0-B90F-B22486419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981" y="558801"/>
            <a:ext cx="6897863" cy="731838"/>
          </a:xfrm>
          <a:prstGeom prst="rect">
            <a:avLst/>
          </a:prstGeom>
        </p:spPr>
        <p:txBody>
          <a:bodyPr/>
          <a:lstStyle>
            <a:lvl1pPr marL="0" indent="0" algn="l" defTabSz="228555" rtl="0" eaLnBrk="1" latinLnBrk="0" hangingPunct="1">
              <a:buNone/>
              <a:defRPr lang="en-US" sz="4000" kern="12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Statistics Heading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F3F4CB-5EB9-3175-2127-AF79752916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6979" y="2676696"/>
            <a:ext cx="1828562" cy="1166813"/>
          </a:xfrm>
          <a:prstGeom prst="rect">
            <a:avLst/>
          </a:prstGeom>
        </p:spPr>
        <p:txBody>
          <a:bodyPr/>
          <a:lstStyle>
            <a:lvl1pPr marL="0" indent="0" algn="l" defTabSz="228555" rtl="0" eaLnBrk="1" latinLnBrk="0" hangingPunct="1">
              <a:buNone/>
              <a:defRPr lang="en-US" sz="9000" b="1" kern="0" spc="-15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80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B72CE5E9-8774-DCDA-36D6-2506A0D7DA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778" y="2676696"/>
            <a:ext cx="2463787" cy="1166813"/>
          </a:xfrm>
          <a:prstGeom prst="rect">
            <a:avLst/>
          </a:prstGeom>
        </p:spPr>
        <p:txBody>
          <a:bodyPr/>
          <a:lstStyle>
            <a:lvl1pPr marL="0" indent="0" algn="l" defTabSz="228555" rtl="0" eaLnBrk="1" latinLnBrk="0" hangingPunct="1">
              <a:buNone/>
              <a:defRPr lang="en-US" sz="9000" b="1" kern="0" spc="-15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10+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B566D31-A3B0-D178-4C71-40DC897E21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39154" y="2676696"/>
            <a:ext cx="1828562" cy="1166813"/>
          </a:xfrm>
          <a:prstGeom prst="rect">
            <a:avLst/>
          </a:prstGeom>
        </p:spPr>
        <p:txBody>
          <a:bodyPr/>
          <a:lstStyle>
            <a:lvl1pPr marL="0" indent="0" algn="l" defTabSz="228555" rtl="0" eaLnBrk="1" latinLnBrk="0" hangingPunct="1">
              <a:buNone/>
              <a:defRPr lang="en-US" sz="9000" b="1" kern="0" spc="-15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30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4ECB0BC-6D4B-088C-AB80-144E6FD0CE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5542" y="3429001"/>
            <a:ext cx="827612" cy="3008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kern="0" spc="-39" dirty="0">
                <a:solidFill>
                  <a:srgbClr val="404040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units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19C07FA6-4A77-E2C6-CEE8-8B3E7D7A84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565" y="3492982"/>
            <a:ext cx="827612" cy="3008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kern="0" spc="-39" dirty="0">
                <a:solidFill>
                  <a:srgbClr val="404040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units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87F87947-DE23-E2A5-A78B-18451BD379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67716" y="3492982"/>
            <a:ext cx="827612" cy="3008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kern="0" spc="-39" dirty="0">
                <a:solidFill>
                  <a:srgbClr val="404040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units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F5BC999-5BA7-B57B-E52A-D40EA117CF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6820" y="4021587"/>
            <a:ext cx="2656334" cy="14743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91871E2-FA4F-AF88-10D6-D4016C409D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95778" y="4021587"/>
            <a:ext cx="2656334" cy="14743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01BFBC-7ABF-832A-E9FF-DA40627755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38994" y="4021586"/>
            <a:ext cx="2656334" cy="14743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3089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2D52A8-1ABD-D90C-8948-8FE504CDA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0747" y="2519681"/>
            <a:ext cx="8941709" cy="791364"/>
          </a:xfrm>
          <a:prstGeom prst="rect">
            <a:avLst/>
          </a:prstGeom>
        </p:spPr>
        <p:txBody>
          <a:bodyPr/>
          <a:lstStyle>
            <a:lvl1pPr>
              <a:defRPr lang="en-US" sz="52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Text Heading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21F774-15AA-DF5A-EC0A-4CC17D645D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748" y="3349867"/>
            <a:ext cx="9709152" cy="18357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228555" rtl="0" eaLnBrk="1" fontAlgn="auto" latinLnBrk="0" hangingPunct="1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sim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Cras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ultrices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semper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viverra</a:t>
            </a:r>
            <a:r>
              <a:rPr lang="en-US" dirty="0"/>
              <a:t> ac </a:t>
            </a:r>
            <a:r>
              <a:rPr lang="en-US" dirty="0" err="1"/>
              <a:t>lacus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91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5321FD60-5924-1A31-EC33-4B93A43A5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007069" y="2451100"/>
            <a:ext cx="6350" cy="231775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7BEBE6-C630-AA0E-4250-7BACEB9E7A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247" y="631032"/>
            <a:ext cx="10528517" cy="1134269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Slide Heading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9A2D7A-34EC-3786-9557-73812A2BAF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7059" y="2800353"/>
            <a:ext cx="4851563" cy="464344"/>
          </a:xfrm>
          <a:prstGeom prst="rect">
            <a:avLst/>
          </a:prstGeom>
        </p:spPr>
        <p:txBody>
          <a:bodyPr/>
          <a:lstStyle>
            <a:lvl1pPr marL="0" indent="0" algn="l" defTabSz="228555" rtl="0" eaLnBrk="1" latinLnBrk="0" hangingPunct="1">
              <a:buNone/>
              <a:defRPr lang="en-US" sz="2800" kern="12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Column Heading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A58C881-FBB4-B47D-1C33-3DA0A81621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1868" y="2753916"/>
            <a:ext cx="4851563" cy="510778"/>
          </a:xfrm>
          <a:prstGeom prst="rect">
            <a:avLst/>
          </a:prstGeom>
        </p:spPr>
        <p:txBody>
          <a:bodyPr/>
          <a:lstStyle>
            <a:lvl1pPr marL="0" indent="0" algn="l" defTabSz="228555" rtl="0" eaLnBrk="1" latinLnBrk="0" hangingPunct="1">
              <a:buNone/>
              <a:defRPr lang="en-US" sz="2800" kern="12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Column Heading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87F7747-004B-3EB7-9CA1-554DB14BB9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7059" y="3264694"/>
            <a:ext cx="4851561" cy="14743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602DCB-2BAF-038D-B679-F8B9B30459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11866" y="3232037"/>
            <a:ext cx="4851561" cy="1474339"/>
          </a:xfrm>
          <a:prstGeom prst="rect">
            <a:avLst/>
          </a:prstGeom>
        </p:spPr>
        <p:txBody>
          <a:bodyPr/>
          <a:lstStyle>
            <a:lvl1pPr>
              <a:def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8903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DB08E58C-53DF-F3CA-AE8E-6065E3D7D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324327" y="2438400"/>
            <a:ext cx="6350" cy="2317750"/>
          </a:xfrm>
          <a:prstGeom prst="rect">
            <a:avLst/>
          </a:prstGeom>
        </p:spPr>
      </p:pic>
      <p:pic>
        <p:nvPicPr>
          <p:cNvPr id="10" name="Image 1" descr=" ">
            <a:extLst>
              <a:ext uri="{FF2B5EF4-FFF2-40B4-BE49-F238E27FC236}">
                <a16:creationId xmlns:a16="http://schemas.microsoft.com/office/drawing/2014/main" id="{CC292DC3-748D-DF03-AE2C-7C41560773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083508" y="2438400"/>
            <a:ext cx="6350" cy="231775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0394F6D-CB0F-E403-4749-3BAB44CFA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1006" y="649805"/>
            <a:ext cx="7232501" cy="940594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Slide Heading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659A613-6B7B-AB49-2C5C-2D0D2C2F66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175" y="2716696"/>
            <a:ext cx="3213476" cy="505139"/>
          </a:xfrm>
          <a:prstGeom prst="rect">
            <a:avLst/>
          </a:prstGeom>
        </p:spPr>
        <p:txBody>
          <a:bodyPr/>
          <a:lstStyle>
            <a:lvl1pPr>
              <a:defRPr lang="en-US" sz="28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Column Heading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63589E4-92B5-FE94-C4DD-F051516403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355" y="2716696"/>
            <a:ext cx="3213476" cy="463829"/>
          </a:xfrm>
          <a:prstGeom prst="rect">
            <a:avLst/>
          </a:prstGeom>
        </p:spPr>
        <p:txBody>
          <a:bodyPr/>
          <a:lstStyle>
            <a:lvl1pPr>
              <a:defRPr lang="en-US" sz="28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Column Heading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DE3518AE-D03D-0089-B696-D318F69E68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43662" y="2716696"/>
            <a:ext cx="3213476" cy="472284"/>
          </a:xfrm>
          <a:prstGeom prst="rect">
            <a:avLst/>
          </a:prstGeom>
        </p:spPr>
        <p:txBody>
          <a:bodyPr/>
          <a:lstStyle>
            <a:lvl1pPr>
              <a:defRPr lang="en-US" sz="28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Column Heading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F50B89-D4E8-5415-8673-1C055C342E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1174" y="3281810"/>
            <a:ext cx="3229347" cy="14743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9CDC0F7-86E6-3E23-6E74-5F8F42B3DC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8135" y="3221835"/>
            <a:ext cx="3229347" cy="14743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86E8ED5-1AF9-A7D1-27CD-B025B5AD5A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27791" y="3245839"/>
            <a:ext cx="3229347" cy="14743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99971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FF6F74-A7AE-4877-D6FA-D5F140EB8A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7309" y="671168"/>
            <a:ext cx="8215829" cy="844550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List Heading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55D97AB-E8E0-FDED-3860-4C9FE4C156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616" y="1703389"/>
            <a:ext cx="8215829" cy="344487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List Item 1</a:t>
            </a:r>
          </a:p>
          <a:p>
            <a:pPr lvl="0"/>
            <a:r>
              <a:rPr lang="en-US" dirty="0"/>
              <a:t>List Item 2</a:t>
            </a:r>
          </a:p>
          <a:p>
            <a:pPr lvl="0"/>
            <a:r>
              <a:rPr lang="en-US" dirty="0"/>
              <a:t>List Item 3</a:t>
            </a:r>
          </a:p>
        </p:txBody>
      </p:sp>
    </p:spTree>
    <p:extLst>
      <p:ext uri="{BB962C8B-B14F-4D97-AF65-F5344CB8AC3E}">
        <p14:creationId xmlns:p14="http://schemas.microsoft.com/office/powerpoint/2010/main" val="3411576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ECA95775-CF42-E8FF-F965-3866F64D3491}"/>
              </a:ext>
            </a:extLst>
          </p:cNvPr>
          <p:cNvSpPr/>
          <p:nvPr userDrawn="1"/>
        </p:nvSpPr>
        <p:spPr>
          <a:xfrm>
            <a:off x="1930391" y="2279654"/>
            <a:ext cx="1595957" cy="157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9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DA0BC75-D9E6-F1DD-D659-6F461CC3AAC9}"/>
              </a:ext>
            </a:extLst>
          </p:cNvPr>
          <p:cNvSpPr/>
          <p:nvPr userDrawn="1"/>
        </p:nvSpPr>
        <p:spPr>
          <a:xfrm>
            <a:off x="4610076" y="2279654"/>
            <a:ext cx="1742009" cy="157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9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0" descr=" ">
            <a:extLst>
              <a:ext uri="{FF2B5EF4-FFF2-40B4-BE49-F238E27FC236}">
                <a16:creationId xmlns:a16="http://schemas.microsoft.com/office/drawing/2014/main" id="{537EAEF7-4C2D-8C3A-A32B-23D00F708F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435332" y="2152650"/>
            <a:ext cx="6350" cy="3136900"/>
          </a:xfrm>
          <a:prstGeom prst="rect">
            <a:avLst/>
          </a:prstGeom>
        </p:spPr>
      </p:pic>
      <p:pic>
        <p:nvPicPr>
          <p:cNvPr id="11" name="Image 1" descr=" ">
            <a:extLst>
              <a:ext uri="{FF2B5EF4-FFF2-40B4-BE49-F238E27FC236}">
                <a16:creationId xmlns:a16="http://schemas.microsoft.com/office/drawing/2014/main" id="{F45A6D2A-7DC2-4307-FA6F-A286E14DDA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61067" y="2152650"/>
            <a:ext cx="6350" cy="313690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820CB708-55C0-04AA-4722-AC3BB5D8727F}"/>
              </a:ext>
            </a:extLst>
          </p:cNvPr>
          <p:cNvSpPr/>
          <p:nvPr userDrawn="1"/>
        </p:nvSpPr>
        <p:spPr>
          <a:xfrm>
            <a:off x="7410414" y="2279654"/>
            <a:ext cx="1767406" cy="157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9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Image 2" descr=" ">
            <a:extLst>
              <a:ext uri="{FF2B5EF4-FFF2-40B4-BE49-F238E27FC236}">
                <a16:creationId xmlns:a16="http://schemas.microsoft.com/office/drawing/2014/main" id="{872A1C6C-40F8-BAE1-416E-BCA30FAB4B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086804" y="2152650"/>
            <a:ext cx="6350" cy="3136900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61F73147-940E-011C-6F25-C6F12947EB54}"/>
              </a:ext>
            </a:extLst>
          </p:cNvPr>
          <p:cNvSpPr/>
          <p:nvPr userDrawn="1"/>
        </p:nvSpPr>
        <p:spPr>
          <a:xfrm>
            <a:off x="10204398" y="2279654"/>
            <a:ext cx="1799157" cy="157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en-US" sz="9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D9EE08A-7826-5A46-53C3-45D2A46D3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7247" y="654579"/>
            <a:ext cx="8440432" cy="655638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Ordered List Heading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84E46BB-F1A1-08CB-652D-FC7F4C8098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326" y="3977225"/>
            <a:ext cx="2369036" cy="385225"/>
          </a:xfrm>
          <a:prstGeom prst="rect">
            <a:avLst/>
          </a:prstGeom>
        </p:spPr>
        <p:txBody>
          <a:bodyPr/>
          <a:lstStyle>
            <a:lvl1pPr>
              <a:defRPr lang="en-US" sz="20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List Item Heading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3E6AAE37-40C0-972D-DF07-15D8DE0B7A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1254" y="3977225"/>
            <a:ext cx="2369036" cy="38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lang="en-US" sz="2000" kern="12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List Item Heading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B7961476-6816-532C-EBCF-0A5DABCB47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91393" y="3977225"/>
            <a:ext cx="2369036" cy="385225"/>
          </a:xfrm>
          <a:prstGeom prst="rect">
            <a:avLst/>
          </a:prstGeom>
        </p:spPr>
        <p:txBody>
          <a:bodyPr/>
          <a:lstStyle>
            <a:lvl1pPr>
              <a:defRPr lang="en-US" sz="20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List Item Heading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411030A-90B9-31FC-782C-869CE9F4E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21678" y="3977225"/>
            <a:ext cx="2369036" cy="385225"/>
          </a:xfrm>
          <a:prstGeom prst="rect">
            <a:avLst/>
          </a:prstGeom>
        </p:spPr>
        <p:txBody>
          <a:bodyPr/>
          <a:lstStyle>
            <a:lvl1pPr>
              <a:defRPr lang="en-US" sz="2000" dirty="0">
                <a:solidFill>
                  <a:srgbClr val="EE597E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List Item Heading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DCD8FDFD-238D-7AED-1CC0-BB08FFFDE0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739" y="4362450"/>
            <a:ext cx="2369036" cy="927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91C886A-05AA-EE94-1AF6-02E944BA57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1254" y="4400721"/>
            <a:ext cx="2369036" cy="927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6F7C0ED-30A4-55DA-5E3C-E63740068A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1393" y="4400721"/>
            <a:ext cx="2369036" cy="927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32FDBF3-65BA-E537-BB87-B9929BE6F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1678" y="4383489"/>
            <a:ext cx="2369036" cy="927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5371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7FB3CB99-9335-A183-8CF5-D1AB01CE80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7248" y="3737306"/>
            <a:ext cx="5921892" cy="649606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Image Heading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8C84EB-7FF7-985A-3022-0880DE8AB2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55395" y="171289"/>
            <a:ext cx="4965847" cy="5778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D143A01-41F2-6B6A-89E3-FB06A59B6E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7248" y="4440389"/>
            <a:ext cx="5921892" cy="1023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Image Description</a:t>
            </a:r>
          </a:p>
        </p:txBody>
      </p:sp>
    </p:spTree>
    <p:extLst>
      <p:ext uri="{BB962C8B-B14F-4D97-AF65-F5344CB8AC3E}">
        <p14:creationId xmlns:p14="http://schemas.microsoft.com/office/powerpoint/2010/main" val="2888856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41325557-2CD8-F13B-7ECC-A99B002AD4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4"/>
            <a:ext cx="12192000" cy="610001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B16AD7B-1B78-F81B-6089-4E2B87CBA7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7248" y="3737306"/>
            <a:ext cx="5921892" cy="649606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Image Heading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1E0E567-F96A-1C0A-56EB-89A93C69F6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7248" y="4440389"/>
            <a:ext cx="5921892" cy="1023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Image Description</a:t>
            </a:r>
          </a:p>
        </p:txBody>
      </p:sp>
    </p:spTree>
    <p:extLst>
      <p:ext uri="{BB962C8B-B14F-4D97-AF65-F5344CB8AC3E}">
        <p14:creationId xmlns:p14="http://schemas.microsoft.com/office/powerpoint/2010/main" val="36623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2D1E2BE3-B507-0C96-5E1A-382A7C1DC9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1006" y="649805"/>
            <a:ext cx="7232501" cy="940594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Table Heading</a:t>
            </a:r>
          </a:p>
        </p:txBody>
      </p:sp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07D1A1DC-DDBE-14AC-1B04-7E4A3F73C54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2763234"/>
              </p:ext>
            </p:extLst>
          </p:nvPr>
        </p:nvGraphicFramePr>
        <p:xfrm>
          <a:off x="984246" y="2683006"/>
          <a:ext cx="10333512" cy="2844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378">
                  <a:extLst>
                    <a:ext uri="{9D8B030D-6E8A-4147-A177-3AD203B41FA5}">
                      <a16:colId xmlns:a16="http://schemas.microsoft.com/office/drawing/2014/main" val="3898663901"/>
                    </a:ext>
                  </a:extLst>
                </a:gridCol>
                <a:gridCol w="2583378">
                  <a:extLst>
                    <a:ext uri="{9D8B030D-6E8A-4147-A177-3AD203B41FA5}">
                      <a16:colId xmlns:a16="http://schemas.microsoft.com/office/drawing/2014/main" val="4254686856"/>
                    </a:ext>
                  </a:extLst>
                </a:gridCol>
                <a:gridCol w="2583378">
                  <a:extLst>
                    <a:ext uri="{9D8B030D-6E8A-4147-A177-3AD203B41FA5}">
                      <a16:colId xmlns:a16="http://schemas.microsoft.com/office/drawing/2014/main" val="1346812868"/>
                    </a:ext>
                  </a:extLst>
                </a:gridCol>
                <a:gridCol w="2583378">
                  <a:extLst>
                    <a:ext uri="{9D8B030D-6E8A-4147-A177-3AD203B41FA5}">
                      <a16:colId xmlns:a16="http://schemas.microsoft.com/office/drawing/2014/main" val="1828416184"/>
                    </a:ext>
                  </a:extLst>
                </a:gridCol>
              </a:tblGrid>
              <a:tr h="639854"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97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97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97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59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59091"/>
                  </a:ext>
                </a:extLst>
              </a:tr>
              <a:tr h="654781"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181885"/>
                  </a:ext>
                </a:extLst>
              </a:tr>
              <a:tr h="80010">
                <a:tc>
                  <a:txBody>
                    <a:bodyPr/>
                    <a:lstStyle/>
                    <a:p>
                      <a:endParaRPr lang="en-US" sz="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147781"/>
                  </a:ext>
                </a:extLst>
              </a:tr>
              <a:tr h="734727"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95238"/>
                  </a:ext>
                </a:extLst>
              </a:tr>
              <a:tr h="734727"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14" marR="45714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43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37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DCF29F-B2C8-25C6-171A-CBFE58E89CBC}"/>
              </a:ext>
            </a:extLst>
          </p:cNvPr>
          <p:cNvSpPr/>
          <p:nvPr userDrawn="1"/>
        </p:nvSpPr>
        <p:spPr>
          <a:xfrm>
            <a:off x="1041396" y="1943100"/>
            <a:ext cx="2971785" cy="2971800"/>
          </a:xfrm>
          <a:prstGeom prst="ellipse">
            <a:avLst/>
          </a:prstGeom>
          <a:solidFill>
            <a:srgbClr val="EE597E">
              <a:alpha val="90000"/>
            </a:srgbClr>
          </a:solidFill>
          <a:ln/>
        </p:spPr>
        <p:txBody>
          <a:bodyPr/>
          <a:lstStyle/>
          <a:p>
            <a:endParaRPr lang="en-US" sz="4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510D9F9-D07F-CBCF-70FD-1C91DE3D7AAC}"/>
              </a:ext>
            </a:extLst>
          </p:cNvPr>
          <p:cNvSpPr/>
          <p:nvPr userDrawn="1"/>
        </p:nvSpPr>
        <p:spPr>
          <a:xfrm>
            <a:off x="3422634" y="1943100"/>
            <a:ext cx="2971785" cy="2971800"/>
          </a:xfrm>
          <a:prstGeom prst="ellipse">
            <a:avLst/>
          </a:prstGeom>
          <a:solidFill>
            <a:srgbClr val="EE597E">
              <a:alpha val="90000"/>
            </a:srgbClr>
          </a:solidFill>
          <a:ln/>
        </p:spPr>
        <p:txBody>
          <a:bodyPr/>
          <a:lstStyle/>
          <a:p>
            <a:endParaRPr lang="en-US" sz="4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2E547E-256D-8A0F-7A92-B467FE4A869E}"/>
              </a:ext>
            </a:extLst>
          </p:cNvPr>
          <p:cNvSpPr/>
          <p:nvPr userDrawn="1"/>
        </p:nvSpPr>
        <p:spPr>
          <a:xfrm>
            <a:off x="5803873" y="1943100"/>
            <a:ext cx="2971785" cy="2971800"/>
          </a:xfrm>
          <a:prstGeom prst="ellipse">
            <a:avLst/>
          </a:prstGeom>
          <a:solidFill>
            <a:srgbClr val="EE597E">
              <a:alpha val="90000"/>
            </a:srgbClr>
          </a:solidFill>
          <a:ln/>
        </p:spPr>
        <p:txBody>
          <a:bodyPr/>
          <a:lstStyle/>
          <a:p>
            <a:endParaRPr lang="en-US" sz="4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89A7110-535A-82DB-DA3A-4A7033FD1DF0}"/>
              </a:ext>
            </a:extLst>
          </p:cNvPr>
          <p:cNvSpPr/>
          <p:nvPr userDrawn="1"/>
        </p:nvSpPr>
        <p:spPr>
          <a:xfrm>
            <a:off x="8185110" y="1943100"/>
            <a:ext cx="2971785" cy="2971800"/>
          </a:xfrm>
          <a:prstGeom prst="ellipse">
            <a:avLst/>
          </a:prstGeom>
          <a:solidFill>
            <a:srgbClr val="EE597E">
              <a:alpha val="90000"/>
            </a:srgbClr>
          </a:solidFill>
          <a:ln/>
        </p:spPr>
        <p:txBody>
          <a:bodyPr/>
          <a:lstStyle/>
          <a:p>
            <a:endParaRPr lang="en-US" sz="4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5026234-E776-F321-98FE-19950CA28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1006" y="649805"/>
            <a:ext cx="7232501" cy="940594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Diagram Heading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8F19CA4-B0D7-1AAA-3C9A-0AD374F8DC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63113" y="3003554"/>
            <a:ext cx="1727769" cy="37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>
              <a:defRPr lang="en-US" sz="2400" dirty="0">
                <a:solidFill>
                  <a:srgbClr val="FFFFFF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Heading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4F7928A8-CC76-7C72-8266-F875D04E50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4640" y="3025612"/>
            <a:ext cx="1727769" cy="37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>
              <a:defRPr lang="en-US" sz="2400" dirty="0">
                <a:solidFill>
                  <a:srgbClr val="FFFFFF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Heading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837591B3-349A-8F9A-86C0-419840C996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5877" y="3021267"/>
            <a:ext cx="1727769" cy="37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>
              <a:defRPr lang="en-US" sz="2400" dirty="0">
                <a:solidFill>
                  <a:srgbClr val="FFFFFF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Heading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4CF8D2CA-59A8-B786-14EF-AAA00783E3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7116" y="3021267"/>
            <a:ext cx="1727769" cy="37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>
              <a:defRPr lang="en-US" sz="2400" dirty="0">
                <a:solidFill>
                  <a:srgbClr val="FFFFFF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35F7C6-AC77-BCD3-CC2D-AEC017580A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63700" y="3394075"/>
            <a:ext cx="1727200" cy="1023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2FBDD9A-F1E6-D375-378E-349A8C4850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60797" y="3429000"/>
            <a:ext cx="1727200" cy="1023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58F4CD-DD63-52B6-0C3A-B8B8379028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2156" y="3429000"/>
            <a:ext cx="1727200" cy="1023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AE7FAFD-F405-7D0F-985F-393F9727D8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1100" y="3429000"/>
            <a:ext cx="1727200" cy="1023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89788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960BF556-248B-F967-AA19-53BC97589FB1}"/>
              </a:ext>
            </a:extLst>
          </p:cNvPr>
          <p:cNvSpPr/>
          <p:nvPr userDrawn="1"/>
        </p:nvSpPr>
        <p:spPr>
          <a:xfrm>
            <a:off x="1625593" y="1752600"/>
            <a:ext cx="3352782" cy="3352800"/>
          </a:xfrm>
          <a:prstGeom prst="ellipse">
            <a:avLst/>
          </a:prstGeom>
          <a:solidFill>
            <a:srgbClr val="EE597E">
              <a:alpha val="80000"/>
            </a:srgbClr>
          </a:solidFill>
          <a:ln/>
        </p:spPr>
        <p:txBody>
          <a:bodyPr/>
          <a:lstStyle/>
          <a:p>
            <a:endParaRPr lang="en-US" sz="4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2D43D44-2416-0430-38D0-130D647799AE}"/>
              </a:ext>
            </a:extLst>
          </p:cNvPr>
          <p:cNvSpPr/>
          <p:nvPr userDrawn="1"/>
        </p:nvSpPr>
        <p:spPr>
          <a:xfrm>
            <a:off x="4419577" y="1752600"/>
            <a:ext cx="3352782" cy="3352800"/>
          </a:xfrm>
          <a:prstGeom prst="ellipse">
            <a:avLst/>
          </a:prstGeom>
          <a:solidFill>
            <a:srgbClr val="FF985B">
              <a:alpha val="80000"/>
            </a:srgbClr>
          </a:solidFill>
          <a:ln/>
        </p:spPr>
        <p:txBody>
          <a:bodyPr/>
          <a:lstStyle/>
          <a:p>
            <a:endParaRPr lang="en-US" sz="4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6AEF372-4FB4-AE04-D0BC-6944AC7DC0F8}"/>
              </a:ext>
            </a:extLst>
          </p:cNvPr>
          <p:cNvSpPr/>
          <p:nvPr userDrawn="1"/>
        </p:nvSpPr>
        <p:spPr>
          <a:xfrm>
            <a:off x="7213563" y="1752600"/>
            <a:ext cx="3352782" cy="3352800"/>
          </a:xfrm>
          <a:prstGeom prst="ellipse">
            <a:avLst/>
          </a:prstGeom>
          <a:solidFill>
            <a:srgbClr val="C83BD0">
              <a:alpha val="80000"/>
            </a:srgbClr>
          </a:solidFill>
          <a:ln/>
        </p:spPr>
        <p:txBody>
          <a:bodyPr/>
          <a:lstStyle/>
          <a:p>
            <a:endParaRPr lang="en-US" sz="4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9B0F60A-737C-6743-9A18-A8D2D28A61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1006" y="649805"/>
            <a:ext cx="7232501" cy="940594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Diagram Heading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5383C7D3-E02D-3513-877C-D8C83E25FA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38763" y="2992525"/>
            <a:ext cx="1727769" cy="37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lang="en-US" sz="2400" dirty="0">
                <a:solidFill>
                  <a:srgbClr val="FFFFFF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Heading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F8DF60BA-542E-CE27-F240-9E931D5E02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1860" y="2956430"/>
            <a:ext cx="1727769" cy="37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lang="en-US" sz="2400" dirty="0">
                <a:solidFill>
                  <a:srgbClr val="FFFFFF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Heading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1FFFF21C-11FB-C061-F621-B9B51066C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5470" y="2956430"/>
            <a:ext cx="1727769" cy="37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lang="en-US" sz="2400" dirty="0">
                <a:solidFill>
                  <a:srgbClr val="FFFFFF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Heading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AA5395A-7D51-93D7-56EE-BFA1CA6052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16295" y="3366006"/>
            <a:ext cx="1981194" cy="1023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50E8D17-92F6-402C-E4E1-F87D445F6D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5147" y="3329911"/>
            <a:ext cx="1981194" cy="1023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D4239E8-CFDC-DEED-9DA0-D640574E30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94447" y="3366006"/>
            <a:ext cx="1981194" cy="10239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85898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6B5DB52F-8DDF-3736-6DE5-D36DB1B9B2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1006" y="649805"/>
            <a:ext cx="7232501" cy="940594"/>
          </a:xfrm>
          <a:prstGeom prst="rect">
            <a:avLst/>
          </a:prstGeom>
        </p:spPr>
        <p:txBody>
          <a:bodyPr/>
          <a:lstStyle>
            <a:lvl1pPr>
              <a:defRPr lang="en-US" sz="4000" dirty="0">
                <a:solidFill>
                  <a:srgbClr val="121212">
                    <a:alpha val="10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Slide Heading</a:t>
            </a:r>
          </a:p>
        </p:txBody>
      </p:sp>
    </p:spTree>
    <p:extLst>
      <p:ext uri="{BB962C8B-B14F-4D97-AF65-F5344CB8AC3E}">
        <p14:creationId xmlns:p14="http://schemas.microsoft.com/office/powerpoint/2010/main" val="79901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030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E62AA0F-F750-4CBD-AB21-123C6E7950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1395903"/>
            <a:ext cx="10515600" cy="4496078"/>
          </a:xfrm>
        </p:spPr>
        <p:txBody>
          <a:bodyPr/>
          <a:lstStyle>
            <a:lvl1pPr marL="0" indent="0">
              <a:buNone/>
              <a:defRPr sz="1600">
                <a:solidFill>
                  <a:srgbClr val="3B3B4E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2278962-680E-8FFF-9F02-C67B780D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3168" y="310692"/>
            <a:ext cx="6594280" cy="463826"/>
          </a:xfrm>
        </p:spPr>
        <p:txBody>
          <a:bodyPr>
            <a:normAutofit/>
          </a:bodyPr>
          <a:lstStyle>
            <a:lvl1pPr algn="r">
              <a:defRPr sz="2400" b="1">
                <a:solidFill>
                  <a:srgbClr val="3B3B4E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00357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22278962-680E-8FFF-9F02-C67B780D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3168" y="310692"/>
            <a:ext cx="6594280" cy="463826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400" b="1">
                <a:solidFill>
                  <a:srgbClr val="3B3B4E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29958D-AEF6-1421-4053-15AADEB2C6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20790" y="1294849"/>
            <a:ext cx="932149" cy="933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400FC3-EC02-921E-9AC8-CB47D29DE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8040" y="1290572"/>
            <a:ext cx="3822376" cy="2643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 b="1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718F0D7-B80E-13A1-BED3-C241387005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08040" y="1645580"/>
            <a:ext cx="3822376" cy="5828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Role</a:t>
            </a:r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798FDEEF-DF2F-FB85-86A2-59B97A303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0790" y="2639595"/>
            <a:ext cx="932149" cy="933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7FB77BE4-2349-3EF9-FDE5-B30410777F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8040" y="2635318"/>
            <a:ext cx="3822376" cy="2643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 b="1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E76A652B-98B0-7EB5-AEDA-C67FCF053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08040" y="2990326"/>
            <a:ext cx="3822376" cy="5828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Role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016C0B1-5FDC-4DD3-7C28-6C654158B4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0790" y="3984341"/>
            <a:ext cx="932149" cy="933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52" name="Text Placeholder 6">
            <a:extLst>
              <a:ext uri="{FF2B5EF4-FFF2-40B4-BE49-F238E27FC236}">
                <a16:creationId xmlns:a16="http://schemas.microsoft.com/office/drawing/2014/main" id="{6BCAC4E6-69AA-6F64-087A-8CB321423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08040" y="3980064"/>
            <a:ext cx="3822376" cy="2643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 b="1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28DE549C-9779-83F4-3987-5758623679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8040" y="4335072"/>
            <a:ext cx="3822376" cy="5828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Role</a:t>
            </a:r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7C26FD1B-7FD5-0E1A-93BD-9D890235976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57822" y="1282325"/>
            <a:ext cx="932149" cy="933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E89E8225-0B3E-0AE1-6AAB-0DE9043108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5072" y="1278048"/>
            <a:ext cx="3822376" cy="2643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 b="1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90A705F5-CEE2-E927-A6C9-8470135844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45072" y="1633056"/>
            <a:ext cx="3822376" cy="5828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Role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69E58790-7F23-813F-6F3F-5E9ED22E74A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57822" y="2627071"/>
            <a:ext cx="932149" cy="933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B3601ED8-0A54-80CB-90B2-4074FD90AE8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45072" y="2622794"/>
            <a:ext cx="3822376" cy="2643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 b="1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95E6D3F7-F909-105D-5257-13F6C630DE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45072" y="2977802"/>
            <a:ext cx="3822376" cy="5828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Role</a:t>
            </a:r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B2D0D373-AED3-9358-0641-C0E422D20A5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57822" y="3971817"/>
            <a:ext cx="932149" cy="933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93C57080-B238-9839-25F3-826C2AAF57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45072" y="3967540"/>
            <a:ext cx="3822376" cy="2643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 b="1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7685C782-43DA-0404-D86C-7BCD2AB0F1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45072" y="4322548"/>
            <a:ext cx="3822376" cy="5828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B3B4E"/>
                </a:solidFill>
              </a:defRPr>
            </a:lvl1pPr>
          </a:lstStyle>
          <a:p>
            <a:pPr lvl="0"/>
            <a:r>
              <a:rPr lang="en-US" dirty="0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1007272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F225CAE-00D6-4E67-BBF2-78B1BBF96DD4}"/>
              </a:ext>
            </a:extLst>
          </p:cNvPr>
          <p:cNvGrpSpPr/>
          <p:nvPr userDrawn="1"/>
        </p:nvGrpSpPr>
        <p:grpSpPr>
          <a:xfrm>
            <a:off x="225151" y="6069977"/>
            <a:ext cx="11700000" cy="467743"/>
            <a:chOff x="266095" y="6076797"/>
            <a:chExt cx="11700000" cy="46774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1F58EB6-690D-4D29-9D86-2C965C611B16}"/>
                </a:ext>
              </a:extLst>
            </p:cNvPr>
            <p:cNvSpPr/>
            <p:nvPr userDrawn="1"/>
          </p:nvSpPr>
          <p:spPr>
            <a:xfrm>
              <a:off x="266095" y="6076797"/>
              <a:ext cx="11700000" cy="144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D54EA3-DBE9-429E-8313-405D5753746E}"/>
                </a:ext>
              </a:extLst>
            </p:cNvPr>
            <p:cNvSpPr/>
            <p:nvPr userDrawn="1"/>
          </p:nvSpPr>
          <p:spPr>
            <a:xfrm>
              <a:off x="1872414" y="6094540"/>
              <a:ext cx="10800" cy="450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noFill/>
                </a:ln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41C2C1A5-F6AA-44CD-9308-3C9B290DA7E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5546" y="6153240"/>
            <a:ext cx="895468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6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EFD4521-7CD3-4B59-98A4-3DB79BD29FA3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14400" y="1395902"/>
            <a:ext cx="5083887" cy="4480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3B3B4E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7C47617-8865-4D9D-A66A-86E7F278FEE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291426" y="1387433"/>
            <a:ext cx="5083887" cy="44894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3B3B4E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24" name="Date Placeholder 5">
            <a:extLst>
              <a:ext uri="{FF2B5EF4-FFF2-40B4-BE49-F238E27FC236}">
                <a16:creationId xmlns:a16="http://schemas.microsoft.com/office/drawing/2014/main" id="{F0B2E897-0159-4F3D-BEB8-B8B3A0AFDCCB}"/>
              </a:ext>
            </a:extLst>
          </p:cNvPr>
          <p:cNvSpPr txBox="1">
            <a:spLocks/>
          </p:cNvSpPr>
          <p:nvPr userDrawn="1"/>
        </p:nvSpPr>
        <p:spPr>
          <a:xfrm>
            <a:off x="1842270" y="6067668"/>
            <a:ext cx="98243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4/11/2024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8BCE0E7-D04B-4932-61B5-937EF75EBE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3168" y="310692"/>
            <a:ext cx="6594280" cy="463826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400" b="1">
                <a:solidFill>
                  <a:srgbClr val="3B3B4E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35542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52AAB-7A6A-419E-A18B-DC09302910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5902"/>
            <a:ext cx="10515600" cy="4572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4917DF7-2450-89D9-364C-B96F6012B2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3168" y="310692"/>
            <a:ext cx="6594280" cy="463826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400" b="1">
                <a:solidFill>
                  <a:srgbClr val="3B3B4E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44480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CDAA9-8ECA-4EE8-888E-36AB7994CB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395902"/>
            <a:ext cx="5181600" cy="4554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content</a:t>
            </a:r>
          </a:p>
          <a:p>
            <a:pPr lvl="0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A6B64-A835-4060-A3E1-05EC411F6C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395902"/>
            <a:ext cx="5181600" cy="4554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content</a:t>
            </a:r>
          </a:p>
          <a:p>
            <a:pPr lvl="0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5013D2B-641E-7149-E791-43F3024D4E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3168" y="310692"/>
            <a:ext cx="6594280" cy="463826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400" b="1">
                <a:solidFill>
                  <a:srgbClr val="3B3B4E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490257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665D5C5-7F48-A504-3535-365CF9E299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3168" y="310692"/>
            <a:ext cx="6594280" cy="463826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400" b="1">
                <a:solidFill>
                  <a:srgbClr val="3B3B4E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206518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A6EBAFA-51F1-44A3-92DE-C22FFD85C2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156328" y="1453502"/>
            <a:ext cx="7211119" cy="43651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6D6C097-F1EC-469A-877B-E849F016640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5546" y="1446644"/>
            <a:ext cx="3180637" cy="4365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 / content</a:t>
            </a:r>
          </a:p>
          <a:p>
            <a:pPr lvl="0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5C40BA0-658C-3569-78EF-8E0112CCE1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3168" y="310692"/>
            <a:ext cx="6594280" cy="463826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400" b="1">
                <a:solidFill>
                  <a:srgbClr val="3B3B4E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099395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53">
            <a:extLst>
              <a:ext uri="{FF2B5EF4-FFF2-40B4-BE49-F238E27FC236}">
                <a16:creationId xmlns:a16="http://schemas.microsoft.com/office/drawing/2014/main" id="{EFF67476-477F-F7A8-CC2E-AAB2C9A90D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3954" y="2611525"/>
            <a:ext cx="3664859" cy="1074017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buNone/>
              <a:defRPr sz="1800" b="1">
                <a:solidFill>
                  <a:srgbClr val="3B3B4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Provide any Link, Info about your organization (Social Media, Website)</a:t>
            </a:r>
            <a:endParaRPr lang="el-GR" dirty="0"/>
          </a:p>
        </p:txBody>
      </p:sp>
      <p:sp>
        <p:nvSpPr>
          <p:cNvPr id="24" name="Picture Placeholder 26">
            <a:extLst>
              <a:ext uri="{FF2B5EF4-FFF2-40B4-BE49-F238E27FC236}">
                <a16:creationId xmlns:a16="http://schemas.microsoft.com/office/drawing/2014/main" id="{3B2640EA-B6BE-51AB-F1E8-BA062BF1E52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613601" y="4009433"/>
            <a:ext cx="2133121" cy="492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600"/>
            </a:lvl1pPr>
          </a:lstStyle>
          <a:p>
            <a:r>
              <a:rPr lang="en-US" dirty="0"/>
              <a:t>INSTITUTION LOGO</a:t>
            </a:r>
          </a:p>
        </p:txBody>
      </p:sp>
    </p:spTree>
    <p:extLst>
      <p:ext uri="{BB962C8B-B14F-4D97-AF65-F5344CB8AC3E}">
        <p14:creationId xmlns:p14="http://schemas.microsoft.com/office/powerpoint/2010/main" val="203653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5AFD02-A7E7-D625-7D8D-68C98B8E03A5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0" y="6095902"/>
            <a:ext cx="12192000" cy="762099"/>
          </a:xfrm>
          <a:prstGeom prst="rect">
            <a:avLst/>
          </a:prstGeom>
        </p:spPr>
      </p:pic>
      <p:pic>
        <p:nvPicPr>
          <p:cNvPr id="2" name="Picture Placeholder 13">
            <a:extLst>
              <a:ext uri="{FF2B5EF4-FFF2-40B4-BE49-F238E27FC236}">
                <a16:creationId xmlns:a16="http://schemas.microsoft.com/office/drawing/2014/main" id="{2660A9C7-4ADC-E89B-56B8-A0B4F6F47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2" t="-32829" r="-272" b="-24431"/>
          <a:stretch/>
        </p:blipFill>
        <p:spPr>
          <a:xfrm>
            <a:off x="5694679" y="6367884"/>
            <a:ext cx="802639" cy="33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0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6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xStyles>
    <p:titleStyle>
      <a:lvl1pPr algn="l" defTabSz="228555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39" indent="-57139" algn="l" defTabSz="22855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16" indent="-57139" algn="l" defTabSz="228555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5693" indent="-57139" algn="l" defTabSz="228555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399970" indent="-57139" algn="l" defTabSz="228555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514247" indent="-57139" algn="l" defTabSz="228555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628525" indent="-57139" algn="l" defTabSz="228555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742802" indent="-57139" algn="l" defTabSz="228555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57079" indent="-57139" algn="l" defTabSz="228555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71356" indent="-57139" algn="l" defTabSz="228555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4277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8555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42832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57109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71386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85663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799940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14217" algn="l" defTabSz="228555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E47D8-D140-F70A-DE9F-2E7CEEB1E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B80879-DAA7-2A84-01B2-8CAF642D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0" y="310692"/>
            <a:ext cx="7435528" cy="463826"/>
          </a:xfrm>
        </p:spPr>
        <p:txBody>
          <a:bodyPr>
            <a:normAutofit fontScale="90000"/>
          </a:bodyPr>
          <a:lstStyle/>
          <a:p>
            <a:r>
              <a:rPr lang="en-US" dirty="0"/>
              <a:t>WP3 T3.4  </a:t>
            </a:r>
            <a:r>
              <a:rPr lang="en-US" i="0" u="none" strike="noStrike" baseline="0" dirty="0" err="1"/>
              <a:t>EnerTEF</a:t>
            </a:r>
            <a:r>
              <a:rPr lang="en-US" i="0" u="none" strike="noStrike" baseline="0" dirty="0"/>
              <a:t> AI Experiment Workbench: AI experiments pipeline, model training and serving framework</a:t>
            </a:r>
            <a:endParaRPr lang="en-US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BEC77B7-F1DD-375F-F8CC-1A993698E3CE}"/>
              </a:ext>
            </a:extLst>
          </p:cNvPr>
          <p:cNvGrpSpPr/>
          <p:nvPr/>
        </p:nvGrpSpPr>
        <p:grpSpPr>
          <a:xfrm>
            <a:off x="848817" y="1168586"/>
            <a:ext cx="9686611" cy="4943789"/>
            <a:chOff x="848817" y="1168586"/>
            <a:chExt cx="9686611" cy="4943789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530EF0E8-2ACC-1705-258E-FEE6D249C690}"/>
                </a:ext>
              </a:extLst>
            </p:cNvPr>
            <p:cNvSpPr/>
            <p:nvPr/>
          </p:nvSpPr>
          <p:spPr>
            <a:xfrm>
              <a:off x="848817" y="1168586"/>
              <a:ext cx="9686611" cy="494378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A939E733-E9BD-0D13-36C0-B7A43E2E64DF}"/>
                </a:ext>
              </a:extLst>
            </p:cNvPr>
            <p:cNvCxnSpPr>
              <a:cxnSpLocks/>
              <a:stCxn id="56" idx="3"/>
              <a:endCxn id="48" idx="0"/>
            </p:cNvCxnSpPr>
            <p:nvPr/>
          </p:nvCxnSpPr>
          <p:spPr>
            <a:xfrm>
              <a:off x="2875048" y="2248973"/>
              <a:ext cx="1515754" cy="583765"/>
            </a:xfrm>
            <a:prstGeom prst="bentConnector2">
              <a:avLst/>
            </a:prstGeom>
            <a:ln w="28575">
              <a:solidFill>
                <a:srgbClr val="940F3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38F3F70C-0907-5F6C-51DE-35CC9AB378D4}"/>
                </a:ext>
              </a:extLst>
            </p:cNvPr>
            <p:cNvCxnSpPr>
              <a:cxnSpLocks/>
              <a:stCxn id="57" idx="0"/>
              <a:endCxn id="48" idx="2"/>
            </p:cNvCxnSpPr>
            <p:nvPr/>
          </p:nvCxnSpPr>
          <p:spPr>
            <a:xfrm rot="5400000" flipH="1" flipV="1">
              <a:off x="4167246" y="4068133"/>
              <a:ext cx="392512" cy="54599"/>
            </a:xfrm>
            <a:prstGeom prst="bentConnector3">
              <a:avLst/>
            </a:prstGeom>
            <a:ln w="28575">
              <a:solidFill>
                <a:srgbClr val="940F3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2">
              <a:extLst>
                <a:ext uri="{FF2B5EF4-FFF2-40B4-BE49-F238E27FC236}">
                  <a16:creationId xmlns:a16="http://schemas.microsoft.com/office/drawing/2014/main" id="{DC01A068-277D-BEFB-453B-EA2C81DD8F67}"/>
                </a:ext>
              </a:extLst>
            </p:cNvPr>
            <p:cNvSpPr txBox="1"/>
            <p:nvPr/>
          </p:nvSpPr>
          <p:spPr>
            <a:xfrm>
              <a:off x="2947627" y="1949774"/>
              <a:ext cx="12009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 err="1"/>
                <a:t>Artifacts</a:t>
              </a:r>
              <a:r>
                <a:rPr lang="fr-FR" sz="1100" dirty="0"/>
                <a:t> (</a:t>
              </a:r>
              <a:r>
                <a:rPr lang="fr-FR" sz="1100" dirty="0" err="1"/>
                <a:t>models</a:t>
              </a:r>
              <a:r>
                <a:rPr lang="fr-FR" sz="1100" dirty="0"/>
                <a:t>)</a:t>
              </a:r>
              <a:endParaRPr lang="de-DE" sz="1100" dirty="0"/>
            </a:p>
          </p:txBody>
        </p:sp>
        <p:sp>
          <p:nvSpPr>
            <p:cNvPr id="36" name="Textfeld 23">
              <a:extLst>
                <a:ext uri="{FF2B5EF4-FFF2-40B4-BE49-F238E27FC236}">
                  <a16:creationId xmlns:a16="http://schemas.microsoft.com/office/drawing/2014/main" id="{0C510320-834C-D1E8-B557-01C00D3FD4AB}"/>
                </a:ext>
              </a:extLst>
            </p:cNvPr>
            <p:cNvSpPr txBox="1"/>
            <p:nvPr/>
          </p:nvSpPr>
          <p:spPr>
            <a:xfrm>
              <a:off x="3749467" y="3127589"/>
              <a:ext cx="7441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 err="1"/>
                <a:t>Metadata</a:t>
              </a:r>
              <a:endParaRPr lang="de-DE" sz="1100" dirty="0"/>
            </a:p>
          </p:txBody>
        </p:sp>
        <p:cxnSp>
          <p:nvCxnSpPr>
            <p:cNvPr id="46" name="Connector: Elbow 14">
              <a:extLst>
                <a:ext uri="{FF2B5EF4-FFF2-40B4-BE49-F238E27FC236}">
                  <a16:creationId xmlns:a16="http://schemas.microsoft.com/office/drawing/2014/main" id="{BA6650EB-45E8-2A0C-3C6A-2255C65EA9E6}"/>
                </a:ext>
              </a:extLst>
            </p:cNvPr>
            <p:cNvCxnSpPr>
              <a:cxnSpLocks/>
              <a:stCxn id="57" idx="3"/>
              <a:endCxn id="58" idx="1"/>
            </p:cNvCxnSpPr>
            <p:nvPr/>
          </p:nvCxnSpPr>
          <p:spPr>
            <a:xfrm>
              <a:off x="5619289" y="5121240"/>
              <a:ext cx="343123" cy="373046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940F3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12EA29C-E7C3-A53A-FBFD-575B7ABD4E27}"/>
                </a:ext>
              </a:extLst>
            </p:cNvPr>
            <p:cNvGrpSpPr/>
            <p:nvPr/>
          </p:nvGrpSpPr>
          <p:grpSpPr>
            <a:xfrm>
              <a:off x="3336664" y="2706740"/>
              <a:ext cx="2108276" cy="1192436"/>
              <a:chOff x="2946713" y="1384063"/>
              <a:chExt cx="2108276" cy="1192436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A63341A-3DDE-5618-8F03-D1BF64FB518B}"/>
                  </a:ext>
                </a:extLst>
              </p:cNvPr>
              <p:cNvSpPr/>
              <p:nvPr/>
            </p:nvSpPr>
            <p:spPr>
              <a:xfrm>
                <a:off x="2946713" y="1510061"/>
                <a:ext cx="2108276" cy="1066438"/>
              </a:xfrm>
              <a:prstGeom prst="round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/>
                  <a:t>Tracking Server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Artifact Proxy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SQL Alchemy</a:t>
                </a:r>
              </a:p>
            </p:txBody>
          </p:sp>
          <p:pic>
            <p:nvPicPr>
              <p:cNvPr id="41" name="Grafik 29">
                <a:extLst>
                  <a:ext uri="{FF2B5EF4-FFF2-40B4-BE49-F238E27FC236}">
                    <a16:creationId xmlns:a16="http://schemas.microsoft.com/office/drawing/2014/main" id="{52E604BB-1068-E29F-20A1-29DD28A74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18304" y="1384063"/>
                <a:ext cx="659217" cy="659217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235A833-BED0-ECA0-9E15-FC789ECC1174}"/>
                </a:ext>
              </a:extLst>
            </p:cNvPr>
            <p:cNvGrpSpPr/>
            <p:nvPr/>
          </p:nvGrpSpPr>
          <p:grpSpPr>
            <a:xfrm>
              <a:off x="5056200" y="1212502"/>
              <a:ext cx="2171904" cy="1516431"/>
              <a:chOff x="5054989" y="1940722"/>
              <a:chExt cx="2171904" cy="1516431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2A74209-B608-2CB2-3BCE-C387E1739182}"/>
                  </a:ext>
                </a:extLst>
              </p:cNvPr>
              <p:cNvSpPr/>
              <p:nvPr/>
            </p:nvSpPr>
            <p:spPr>
              <a:xfrm>
                <a:off x="5054989" y="1987455"/>
                <a:ext cx="2171904" cy="146969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/>
                  <a:t>ML Flow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 err="1"/>
                  <a:t>RestStore</a:t>
                </a:r>
                <a:endParaRPr lang="en-US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 err="1"/>
                  <a:t>HttpArtifactRepository</a:t>
                </a:r>
                <a:endParaRPr lang="en-US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Tracks experiments, parameters, metrics</a:t>
                </a:r>
              </a:p>
            </p:txBody>
          </p:sp>
          <p:pic>
            <p:nvPicPr>
              <p:cNvPr id="40" name="Grafik 28">
                <a:extLst>
                  <a:ext uri="{FF2B5EF4-FFF2-40B4-BE49-F238E27FC236}">
                    <a16:creationId xmlns:a16="http://schemas.microsoft.com/office/drawing/2014/main" id="{0E7817C5-9CD9-306A-11E4-1D95076A4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10416" y="1940722"/>
                <a:ext cx="659217" cy="659217"/>
              </a:xfrm>
              <a:prstGeom prst="rect">
                <a:avLst/>
              </a:prstGeom>
            </p:spPr>
          </p:pic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AEF608C0-11DB-BDCA-C717-EDB77EFFCED0}"/>
                </a:ext>
              </a:extLst>
            </p:cNvPr>
            <p:cNvGrpSpPr/>
            <p:nvPr/>
          </p:nvGrpSpPr>
          <p:grpSpPr>
            <a:xfrm>
              <a:off x="7696716" y="1259235"/>
              <a:ext cx="2171904" cy="1815679"/>
              <a:chOff x="7698126" y="1295882"/>
              <a:chExt cx="2171904" cy="1815679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E73B516-47EA-9A5A-1F61-64D926359CE3}"/>
                  </a:ext>
                </a:extLst>
              </p:cNvPr>
              <p:cNvSpPr/>
              <p:nvPr/>
            </p:nvSpPr>
            <p:spPr>
              <a:xfrm>
                <a:off x="7698126" y="1295882"/>
                <a:ext cx="2171904" cy="181567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 err="1">
                    <a:solidFill>
                      <a:schemeClr val="tx2"/>
                    </a:solidFill>
                  </a:rPr>
                  <a:t>JupyterHub</a:t>
                </a:r>
                <a:endParaRPr lang="en-US" sz="1400" b="1" dirty="0">
                  <a:solidFill>
                    <a:schemeClr val="tx2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2"/>
                    </a:solidFill>
                  </a:rPr>
                  <a:t>Start and run AI experiments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2"/>
                    </a:solidFill>
                  </a:rPr>
                  <a:t>Central gateway for authentication and spawns notebook servers</a:t>
                </a:r>
              </a:p>
            </p:txBody>
          </p:sp>
          <p:pic>
            <p:nvPicPr>
              <p:cNvPr id="38" name="Bildplatzhalter 26">
                <a:extLst>
                  <a:ext uri="{FF2B5EF4-FFF2-40B4-BE49-F238E27FC236}">
                    <a16:creationId xmlns:a16="http://schemas.microsoft.com/office/drawing/2014/main" id="{88F265DF-7F00-B8DD-7FB9-0C0D55630D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799" b="16799"/>
              <a:stretch>
                <a:fillRect/>
              </a:stretch>
            </p:blipFill>
            <p:spPr>
              <a:xfrm>
                <a:off x="8796636" y="1390862"/>
                <a:ext cx="895468" cy="360000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A0A1F8C-3727-944C-61C3-94D4AFBB42C6}"/>
                </a:ext>
              </a:extLst>
            </p:cNvPr>
            <p:cNvGrpSpPr/>
            <p:nvPr/>
          </p:nvGrpSpPr>
          <p:grpSpPr>
            <a:xfrm>
              <a:off x="7696716" y="4214371"/>
              <a:ext cx="2328634" cy="1723204"/>
              <a:chOff x="7464573" y="3490351"/>
              <a:chExt cx="2328634" cy="1723204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7B696A96-1F6F-44D6-715D-6BDB6AA207F1}"/>
                  </a:ext>
                </a:extLst>
              </p:cNvPr>
              <p:cNvSpPr/>
              <p:nvPr/>
            </p:nvSpPr>
            <p:spPr>
              <a:xfrm>
                <a:off x="7464573" y="3554452"/>
                <a:ext cx="2328634" cy="1659103"/>
              </a:xfrm>
              <a:prstGeom prst="round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 err="1"/>
                  <a:t>Tensorboard</a:t>
                </a:r>
                <a:endParaRPr lang="en-US" sz="1400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Metric visualization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Model graph visualization </a:t>
                </a:r>
              </a:p>
            </p:txBody>
          </p:sp>
          <p:pic>
            <p:nvPicPr>
              <p:cNvPr id="43" name="Grafik 32">
                <a:extLst>
                  <a:ext uri="{FF2B5EF4-FFF2-40B4-BE49-F238E27FC236}">
                    <a16:creationId xmlns:a16="http://schemas.microsoft.com/office/drawing/2014/main" id="{3925EF62-A553-A3E6-791C-D8B272BDB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55422" y="3490351"/>
                <a:ext cx="1337785" cy="752504"/>
              </a:xfrm>
              <a:prstGeom prst="rect">
                <a:avLst/>
              </a:prstGeom>
            </p:spPr>
          </p:pic>
        </p:grp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7301C6F-B06D-D4E5-628D-53E82D6445C7}"/>
                </a:ext>
              </a:extLst>
            </p:cNvPr>
            <p:cNvSpPr/>
            <p:nvPr/>
          </p:nvSpPr>
          <p:spPr>
            <a:xfrm>
              <a:off x="1001452" y="3525786"/>
              <a:ext cx="1880207" cy="1441089"/>
            </a:xfrm>
            <a:prstGeom prst="roundRect">
              <a:avLst/>
            </a:prstGeom>
            <a:solidFill>
              <a:srgbClr val="6A5ACD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 err="1"/>
                <a:t>BentoML</a:t>
              </a:r>
              <a:endParaRPr lang="en-US" sz="11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Serve AI  models via rest </a:t>
              </a:r>
              <a:r>
                <a:rPr lang="en-US" sz="1100" dirty="0" err="1"/>
                <a:t>api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(work in progress)</a:t>
              </a:r>
            </a:p>
          </p:txBody>
        </p:sp>
        <p:pic>
          <p:nvPicPr>
            <p:cNvPr id="44" name="Grafik 33">
              <a:extLst>
                <a:ext uri="{FF2B5EF4-FFF2-40B4-BE49-F238E27FC236}">
                  <a16:creationId xmlns:a16="http://schemas.microsoft.com/office/drawing/2014/main" id="{359476DF-D886-555C-A146-CD56672B8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7256" y="3577748"/>
              <a:ext cx="453228" cy="453228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4FBBA503-8FC0-1E9B-D771-2F52FB221E70}"/>
                </a:ext>
              </a:extLst>
            </p:cNvPr>
            <p:cNvGrpSpPr/>
            <p:nvPr/>
          </p:nvGrpSpPr>
          <p:grpSpPr>
            <a:xfrm>
              <a:off x="1039854" y="1476221"/>
              <a:ext cx="1835194" cy="1545503"/>
              <a:chOff x="862794" y="2293854"/>
              <a:chExt cx="1835194" cy="1545503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A1F2AF0C-FD1A-1804-78E0-9D522673397E}"/>
                  </a:ext>
                </a:extLst>
              </p:cNvPr>
              <p:cNvSpPr/>
              <p:nvPr/>
            </p:nvSpPr>
            <p:spPr>
              <a:xfrm>
                <a:off x="862794" y="2293854"/>
                <a:ext cx="1835194" cy="1545503"/>
              </a:xfrm>
              <a:prstGeom prst="roundRect">
                <a:avLst/>
              </a:prstGeom>
              <a:solidFill>
                <a:srgbClr val="AD4000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b="1" dirty="0" err="1"/>
                  <a:t>MinIO</a:t>
                </a:r>
                <a:endParaRPr lang="en-US" sz="1200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S3-compatible object storage for models, configs, and artifacts</a:t>
                </a:r>
              </a:p>
            </p:txBody>
          </p:sp>
          <p:pic>
            <p:nvPicPr>
              <p:cNvPr id="39" name="Grafik 27">
                <a:extLst>
                  <a:ext uri="{FF2B5EF4-FFF2-40B4-BE49-F238E27FC236}">
                    <a16:creationId xmlns:a16="http://schemas.microsoft.com/office/drawing/2014/main" id="{29E590BA-78CA-A34E-7E02-B739B1A14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6040" y="2378801"/>
                <a:ext cx="796635" cy="310552"/>
              </a:xfrm>
              <a:prstGeom prst="rect">
                <a:avLst/>
              </a:prstGeom>
            </p:spPr>
          </p:pic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1C7A324-1B25-12B4-8F6F-C8C19671CF43}"/>
                </a:ext>
              </a:extLst>
            </p:cNvPr>
            <p:cNvGrpSpPr/>
            <p:nvPr/>
          </p:nvGrpSpPr>
          <p:grpSpPr>
            <a:xfrm>
              <a:off x="3053116" y="4291688"/>
              <a:ext cx="2566173" cy="1659103"/>
              <a:chOff x="2842834" y="4030311"/>
              <a:chExt cx="2566173" cy="1659103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73417254-1394-1FEF-9994-79BE58E05794}"/>
                  </a:ext>
                </a:extLst>
              </p:cNvPr>
              <p:cNvSpPr/>
              <p:nvPr/>
            </p:nvSpPr>
            <p:spPr>
              <a:xfrm>
                <a:off x="2842834" y="4030311"/>
                <a:ext cx="2566173" cy="1659103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b="1" dirty="0"/>
                  <a:t>PostgreSQL</a:t>
                </a:r>
              </a:p>
              <a:p>
                <a:r>
                  <a:rPr lang="en-US" sz="1200" dirty="0"/>
                  <a:t>Database for storing: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Metrics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Params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Tags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Runs</a:t>
                </a:r>
              </a:p>
            </p:txBody>
          </p:sp>
          <p:pic>
            <p:nvPicPr>
              <p:cNvPr id="42" name="Grafik 30">
                <a:extLst>
                  <a:ext uri="{FF2B5EF4-FFF2-40B4-BE49-F238E27FC236}">
                    <a16:creationId xmlns:a16="http://schemas.microsoft.com/office/drawing/2014/main" id="{966F42B0-0CBF-C8E9-E1BC-5A518653D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84253" y="5068615"/>
                <a:ext cx="1357799" cy="328587"/>
              </a:xfrm>
              <a:prstGeom prst="rect">
                <a:avLst/>
              </a:prstGeom>
            </p:spPr>
          </p:pic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502FA48-611D-8007-601E-B5005D691768}"/>
                </a:ext>
              </a:extLst>
            </p:cNvPr>
            <p:cNvGrpSpPr/>
            <p:nvPr/>
          </p:nvGrpSpPr>
          <p:grpSpPr>
            <a:xfrm>
              <a:off x="5962412" y="4921376"/>
              <a:ext cx="1391180" cy="1145820"/>
              <a:chOff x="5835713" y="3934681"/>
              <a:chExt cx="1391180" cy="114582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E9898396-C5BE-D738-650F-C9B3B2501FD9}"/>
                  </a:ext>
                </a:extLst>
              </p:cNvPr>
              <p:cNvSpPr/>
              <p:nvPr/>
            </p:nvSpPr>
            <p:spPr>
              <a:xfrm>
                <a:off x="5835713" y="3934681"/>
                <a:ext cx="1391180" cy="1145820"/>
              </a:xfrm>
              <a:prstGeom prst="roundRect">
                <a:avLst/>
              </a:prstGeom>
              <a:grp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 err="1"/>
                  <a:t>pgAdmin</a:t>
                </a:r>
                <a:endParaRPr lang="en-US" sz="1100" b="1" dirty="0"/>
              </a:p>
              <a:p>
                <a:r>
                  <a:rPr lang="en-US" sz="1100" dirty="0"/>
                  <a:t>Interface to connect to PostgreSQL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229C8A9B-62F4-C4F2-D39C-087A474460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r="71500" b="-1336"/>
              <a:stretch/>
            </p:blipFill>
            <p:spPr>
              <a:xfrm>
                <a:off x="6713935" y="4047565"/>
                <a:ext cx="387470" cy="333612"/>
              </a:xfrm>
              <a:prstGeom prst="rect">
                <a:avLst/>
              </a:prstGeom>
              <a:grpFill/>
            </p:spPr>
          </p:pic>
        </p:grpSp>
        <p:cxnSp>
          <p:nvCxnSpPr>
            <p:cNvPr id="77" name="Connector: Elbow 76">
              <a:extLst>
                <a:ext uri="{FF2B5EF4-FFF2-40B4-BE49-F238E27FC236}">
                  <a16:creationId xmlns:a16="http://schemas.microsoft.com/office/drawing/2014/main" id="{85F29A93-6678-8678-B1D4-C075982732BB}"/>
                </a:ext>
              </a:extLst>
            </p:cNvPr>
            <p:cNvCxnSpPr>
              <a:stCxn id="51" idx="3"/>
              <a:endCxn id="52" idx="1"/>
            </p:cNvCxnSpPr>
            <p:nvPr/>
          </p:nvCxnSpPr>
          <p:spPr>
            <a:xfrm>
              <a:off x="7228104" y="1994084"/>
              <a:ext cx="468612" cy="172991"/>
            </a:xfrm>
            <a:prstGeom prst="bentConnector3">
              <a:avLst/>
            </a:prstGeom>
            <a:ln w="28575">
              <a:solidFill>
                <a:srgbClr val="940F30"/>
              </a:solidFill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BAE47CB5-6EAD-A381-EF55-AF52BD12D956}"/>
                </a:ext>
              </a:extLst>
            </p:cNvPr>
            <p:cNvCxnSpPr>
              <a:cxnSpLocks/>
              <a:stCxn id="52" idx="2"/>
              <a:endCxn id="53" idx="0"/>
            </p:cNvCxnSpPr>
            <p:nvPr/>
          </p:nvCxnSpPr>
          <p:spPr>
            <a:xfrm rot="16200000" flipH="1">
              <a:off x="8220071" y="3637510"/>
              <a:ext cx="1203558" cy="78365"/>
            </a:xfrm>
            <a:prstGeom prst="bentConnector3">
              <a:avLst/>
            </a:prstGeom>
            <a:ln w="28575">
              <a:solidFill>
                <a:srgbClr val="940F3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6B91CE6C-AF46-0DD8-1A19-4A2789A08E68}"/>
              </a:ext>
            </a:extLst>
          </p:cNvPr>
          <p:cNvCxnSpPr>
            <a:stCxn id="48" idx="3"/>
            <a:endCxn id="51" idx="2"/>
          </p:cNvCxnSpPr>
          <p:nvPr/>
        </p:nvCxnSpPr>
        <p:spPr>
          <a:xfrm flipV="1">
            <a:off x="5444940" y="2728933"/>
            <a:ext cx="697212" cy="637024"/>
          </a:xfrm>
          <a:prstGeom prst="bentConnector2">
            <a:avLst/>
          </a:prstGeom>
          <a:ln w="28575">
            <a:solidFill>
              <a:srgbClr val="940F3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5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136D2-C8EA-7537-C4D6-05101A0CC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BA92F9-9480-5F2F-1EC3-B2AA58E6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310" y="348506"/>
            <a:ext cx="6956608" cy="861169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WP3 T3.4  </a:t>
            </a:r>
            <a:r>
              <a:rPr lang="en-US" sz="2000" i="0" u="none" strike="noStrike" baseline="0" dirty="0" err="1"/>
              <a:t>EnerTEF</a:t>
            </a:r>
            <a:r>
              <a:rPr lang="en-US" sz="2000" i="0" u="none" strike="noStrike" baseline="0" dirty="0"/>
              <a:t> AI Experiment Workbench: </a:t>
            </a:r>
            <a:r>
              <a:rPr lang="en-US" sz="2000" i="0" u="none" strike="noStrike" baseline="0" dirty="0" smtClean="0"/>
              <a:t/>
            </a:r>
            <a:br>
              <a:rPr lang="en-US" sz="2000" i="0" u="none" strike="noStrike" baseline="0" dirty="0" smtClean="0"/>
            </a:br>
            <a:r>
              <a:rPr lang="en-US" sz="2000" i="0" u="none" strike="noStrike" baseline="0" dirty="0" smtClean="0"/>
              <a:t>AI </a:t>
            </a:r>
            <a:r>
              <a:rPr lang="en-US" sz="2000" i="0" u="none" strike="noStrike" baseline="0" dirty="0"/>
              <a:t>experiments pipeline, model training and serving framework</a:t>
            </a:r>
            <a:endParaRPr lang="en-US" sz="20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05D4D46-787F-617A-9A84-59903D6B7470}"/>
              </a:ext>
            </a:extLst>
          </p:cNvPr>
          <p:cNvGrpSpPr/>
          <p:nvPr/>
        </p:nvGrpSpPr>
        <p:grpSpPr>
          <a:xfrm>
            <a:off x="258262" y="1021716"/>
            <a:ext cx="11675476" cy="4898431"/>
            <a:chOff x="258262" y="1021716"/>
            <a:chExt cx="11675476" cy="489843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F40D3B4-F394-328C-818A-8B25CED0DA90}"/>
                </a:ext>
              </a:extLst>
            </p:cNvPr>
            <p:cNvSpPr/>
            <p:nvPr/>
          </p:nvSpPr>
          <p:spPr>
            <a:xfrm>
              <a:off x="7078453" y="1021716"/>
              <a:ext cx="4855285" cy="2971800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6C6E004-0B12-AF86-3CE6-F646B472E50B}"/>
                </a:ext>
              </a:extLst>
            </p:cNvPr>
            <p:cNvGrpSpPr/>
            <p:nvPr/>
          </p:nvGrpSpPr>
          <p:grpSpPr>
            <a:xfrm>
              <a:off x="258262" y="1252667"/>
              <a:ext cx="11437555" cy="4667480"/>
              <a:chOff x="258262" y="1252667"/>
              <a:chExt cx="11437555" cy="4667480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761555C-BCD0-0AC0-4FC5-DB4349DE8CFE}"/>
                  </a:ext>
                </a:extLst>
              </p:cNvPr>
              <p:cNvSpPr/>
              <p:nvPr/>
            </p:nvSpPr>
            <p:spPr>
              <a:xfrm>
                <a:off x="258262" y="3484144"/>
                <a:ext cx="6856809" cy="2436003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95DAE33-F37B-70DB-F515-7318CBF43DEB}"/>
                  </a:ext>
                </a:extLst>
              </p:cNvPr>
              <p:cNvGrpSpPr/>
              <p:nvPr/>
            </p:nvGrpSpPr>
            <p:grpSpPr>
              <a:xfrm>
                <a:off x="2700714" y="3605980"/>
                <a:ext cx="1980000" cy="870655"/>
                <a:chOff x="3260902" y="2698724"/>
                <a:chExt cx="1980000" cy="870655"/>
              </a:xfrm>
            </p:grpSpPr>
            <p:sp>
              <p:nvSpPr>
                <p:cNvPr id="36" name="Textfeld 23">
                  <a:extLst>
                    <a:ext uri="{FF2B5EF4-FFF2-40B4-BE49-F238E27FC236}">
                      <a16:creationId xmlns:a16="http://schemas.microsoft.com/office/drawing/2014/main" id="{4444A0AB-5592-D2FB-619C-593716B6B242}"/>
                    </a:ext>
                  </a:extLst>
                </p:cNvPr>
                <p:cNvSpPr txBox="1"/>
                <p:nvPr/>
              </p:nvSpPr>
              <p:spPr>
                <a:xfrm>
                  <a:off x="3673705" y="3144230"/>
                  <a:ext cx="74411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100" dirty="0" err="1"/>
                    <a:t>Metadata</a:t>
                  </a:r>
                  <a:endParaRPr lang="de-DE" sz="1100" dirty="0"/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30EC7FC6-1D98-BF97-2361-B83981233C58}"/>
                    </a:ext>
                  </a:extLst>
                </p:cNvPr>
                <p:cNvGrpSpPr/>
                <p:nvPr/>
              </p:nvGrpSpPr>
              <p:grpSpPr>
                <a:xfrm>
                  <a:off x="3260902" y="2698724"/>
                  <a:ext cx="1980000" cy="870655"/>
                  <a:chOff x="2946713" y="1359406"/>
                  <a:chExt cx="1980000" cy="870655"/>
                </a:xfrm>
              </p:grpSpPr>
              <p:sp>
                <p:nvSpPr>
                  <p:cNvPr id="48" name="Rectangle: Rounded Corners 47">
                    <a:extLst>
                      <a:ext uri="{FF2B5EF4-FFF2-40B4-BE49-F238E27FC236}">
                        <a16:creationId xmlns:a16="http://schemas.microsoft.com/office/drawing/2014/main" id="{AAFB569D-168E-2596-B421-C6970CA15E5D}"/>
                      </a:ext>
                    </a:extLst>
                  </p:cNvPr>
                  <p:cNvSpPr/>
                  <p:nvPr/>
                </p:nvSpPr>
                <p:spPr>
                  <a:xfrm>
                    <a:off x="2946713" y="1510061"/>
                    <a:ext cx="1980000" cy="720000"/>
                  </a:xfrm>
                  <a:prstGeom prst="roundRect">
                    <a:avLst/>
                  </a:prstGeom>
                  <a:ln>
                    <a:solidFill>
                      <a:schemeClr val="accent1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dirty="0"/>
                      <a:t>Tracking Server</a:t>
                    </a:r>
                  </a:p>
                </p:txBody>
              </p:sp>
              <p:pic>
                <p:nvPicPr>
                  <p:cNvPr id="41" name="Grafik 29">
                    <a:extLst>
                      <a:ext uri="{FF2B5EF4-FFF2-40B4-BE49-F238E27FC236}">
                        <a16:creationId xmlns:a16="http://schemas.microsoft.com/office/drawing/2014/main" id="{1E03B619-8C8E-860E-FFCA-DABD752CE8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34022" y="1359406"/>
                    <a:ext cx="659217" cy="659217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8B2C6806-2F62-7F5F-D246-005F7387F479}"/>
                  </a:ext>
                </a:extLst>
              </p:cNvPr>
              <p:cNvGrpSpPr/>
              <p:nvPr/>
            </p:nvGrpSpPr>
            <p:grpSpPr>
              <a:xfrm>
                <a:off x="4926410" y="3756635"/>
                <a:ext cx="2065358" cy="720000"/>
                <a:chOff x="7612768" y="1295882"/>
                <a:chExt cx="2065358" cy="720000"/>
              </a:xfrm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5CCD51CC-1152-6C2B-0E94-D3C11107F210}"/>
                    </a:ext>
                  </a:extLst>
                </p:cNvPr>
                <p:cNvSpPr/>
                <p:nvPr/>
              </p:nvSpPr>
              <p:spPr>
                <a:xfrm>
                  <a:off x="7698126" y="1295882"/>
                  <a:ext cx="1980000" cy="720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err="1">
                      <a:solidFill>
                        <a:schemeClr val="tx2"/>
                      </a:solidFill>
                    </a:rPr>
                    <a:t>JupyterHub</a:t>
                  </a:r>
                  <a:endParaRPr lang="en-US" sz="1400" b="1" dirty="0">
                    <a:solidFill>
                      <a:schemeClr val="tx2"/>
                    </a:solidFill>
                  </a:endParaRPr>
                </a:p>
              </p:txBody>
            </p:sp>
            <p:pic>
              <p:nvPicPr>
                <p:cNvPr id="38" name="Bildplatzhalter 26">
                  <a:extLst>
                    <a:ext uri="{FF2B5EF4-FFF2-40B4-BE49-F238E27FC236}">
                      <a16:creationId xmlns:a16="http://schemas.microsoft.com/office/drawing/2014/main" id="{9BCA2743-ECCD-4FFC-0A8E-BC1D3E78DE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6799" b="16799"/>
                <a:stretch>
                  <a:fillRect/>
                </a:stretch>
              </p:blipFill>
              <p:spPr>
                <a:xfrm>
                  <a:off x="7612768" y="1308582"/>
                  <a:ext cx="895468" cy="360000"/>
                </a:xfrm>
                <a:prstGeom prst="rect">
                  <a:avLst/>
                </a:prstGeom>
              </p:spPr>
            </p:pic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682B9EC1-7224-D3AE-3752-97C77153E209}"/>
                  </a:ext>
                </a:extLst>
              </p:cNvPr>
              <p:cNvGrpSpPr/>
              <p:nvPr/>
            </p:nvGrpSpPr>
            <p:grpSpPr>
              <a:xfrm>
                <a:off x="475018" y="4907136"/>
                <a:ext cx="1980000" cy="720000"/>
                <a:chOff x="925690" y="3542427"/>
                <a:chExt cx="1980000" cy="720000"/>
              </a:xfrm>
            </p:grpSpPr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8E829684-61C8-27D5-9639-1C8971D4099D}"/>
                    </a:ext>
                  </a:extLst>
                </p:cNvPr>
                <p:cNvSpPr/>
                <p:nvPr/>
              </p:nvSpPr>
              <p:spPr>
                <a:xfrm>
                  <a:off x="925690" y="3542427"/>
                  <a:ext cx="1980000" cy="720000"/>
                </a:xfrm>
                <a:prstGeom prst="roundRect">
                  <a:avLst/>
                </a:prstGeom>
                <a:solidFill>
                  <a:srgbClr val="6A5ACD"/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err="1"/>
                    <a:t>BentoML</a:t>
                  </a:r>
                  <a:endParaRPr lang="en-US" sz="1400" b="1" dirty="0"/>
                </a:p>
              </p:txBody>
            </p:sp>
            <p:pic>
              <p:nvPicPr>
                <p:cNvPr id="44" name="Grafik 33">
                  <a:extLst>
                    <a:ext uri="{FF2B5EF4-FFF2-40B4-BE49-F238E27FC236}">
                      <a16:creationId xmlns:a16="http://schemas.microsoft.com/office/drawing/2014/main" id="{4AF23D46-0B8B-0A74-59B0-3E3A96C6F3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91" y="3641562"/>
                  <a:ext cx="453228" cy="453228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74510F8B-EBD2-4E23-415A-43F7934B4CB4}"/>
                  </a:ext>
                </a:extLst>
              </p:cNvPr>
              <p:cNvGrpSpPr/>
              <p:nvPr/>
            </p:nvGrpSpPr>
            <p:grpSpPr>
              <a:xfrm>
                <a:off x="475018" y="3475175"/>
                <a:ext cx="2378184" cy="1001460"/>
                <a:chOff x="1150857" y="1263694"/>
                <a:chExt cx="2378184" cy="1001460"/>
              </a:xfrm>
            </p:grpSpPr>
            <p:sp>
              <p:nvSpPr>
                <p:cNvPr id="35" name="Textfeld 2">
                  <a:extLst>
                    <a:ext uri="{FF2B5EF4-FFF2-40B4-BE49-F238E27FC236}">
                      <a16:creationId xmlns:a16="http://schemas.microsoft.com/office/drawing/2014/main" id="{E7913A0B-A9EC-C501-2CDB-1C9F926286DB}"/>
                    </a:ext>
                  </a:extLst>
                </p:cNvPr>
                <p:cNvSpPr txBox="1"/>
                <p:nvPr/>
              </p:nvSpPr>
              <p:spPr>
                <a:xfrm>
                  <a:off x="2328071" y="1263694"/>
                  <a:ext cx="12009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100" dirty="0" err="1"/>
                    <a:t>Artifacts</a:t>
                  </a:r>
                  <a:r>
                    <a:rPr lang="fr-FR" sz="1100" dirty="0"/>
                    <a:t> (</a:t>
                  </a:r>
                  <a:r>
                    <a:rPr lang="fr-FR" sz="1100" dirty="0" err="1"/>
                    <a:t>models</a:t>
                  </a:r>
                  <a:r>
                    <a:rPr lang="fr-FR" sz="1100" dirty="0"/>
                    <a:t>)</a:t>
                  </a:r>
                  <a:endParaRPr lang="de-DE" sz="1100" dirty="0"/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2C15DE98-6884-2B79-E899-60CB1C33F04F}"/>
                    </a:ext>
                  </a:extLst>
                </p:cNvPr>
                <p:cNvGrpSpPr/>
                <p:nvPr/>
              </p:nvGrpSpPr>
              <p:grpSpPr>
                <a:xfrm>
                  <a:off x="1150857" y="1545154"/>
                  <a:ext cx="1980000" cy="720000"/>
                  <a:chOff x="1049559" y="2346146"/>
                  <a:chExt cx="1980000" cy="720000"/>
                </a:xfrm>
              </p:grpSpPr>
              <p:sp>
                <p:nvSpPr>
                  <p:cNvPr id="56" name="Rectangle: Rounded Corners 55">
                    <a:extLst>
                      <a:ext uri="{FF2B5EF4-FFF2-40B4-BE49-F238E27FC236}">
                        <a16:creationId xmlns:a16="http://schemas.microsoft.com/office/drawing/2014/main" id="{35E6A137-1C36-BA0A-E3E6-B221B1FC37E3}"/>
                      </a:ext>
                    </a:extLst>
                  </p:cNvPr>
                  <p:cNvSpPr/>
                  <p:nvPr/>
                </p:nvSpPr>
                <p:spPr>
                  <a:xfrm>
                    <a:off x="1049559" y="2346146"/>
                    <a:ext cx="1980000" cy="720000"/>
                  </a:xfrm>
                  <a:prstGeom prst="roundRect">
                    <a:avLst/>
                  </a:prstGeom>
                  <a:solidFill>
                    <a:srgbClr val="AD4000"/>
                  </a:solidFill>
                  <a:ln>
                    <a:solidFill>
                      <a:schemeClr val="accent1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dirty="0" err="1"/>
                      <a:t>MinIO</a:t>
                    </a:r>
                    <a:endParaRPr lang="en-US" sz="1400" b="1" dirty="0"/>
                  </a:p>
                </p:txBody>
              </p:sp>
              <p:pic>
                <p:nvPicPr>
                  <p:cNvPr id="39" name="Grafik 27">
                    <a:extLst>
                      <a:ext uri="{FF2B5EF4-FFF2-40B4-BE49-F238E27FC236}">
                        <a16:creationId xmlns:a16="http://schemas.microsoft.com/office/drawing/2014/main" id="{ABC1E5E9-EA98-71C7-A01B-22E2111909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07460" y="2359905"/>
                    <a:ext cx="802054" cy="39567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A3140BDE-F016-90F2-160A-061C023451A0}"/>
                  </a:ext>
                </a:extLst>
              </p:cNvPr>
              <p:cNvGrpSpPr/>
              <p:nvPr/>
            </p:nvGrpSpPr>
            <p:grpSpPr>
              <a:xfrm>
                <a:off x="5011768" y="4907136"/>
                <a:ext cx="1980000" cy="720000"/>
                <a:chOff x="5835713" y="3934681"/>
                <a:chExt cx="1980000" cy="720000"/>
              </a:xfrm>
              <a:solidFill>
                <a:schemeClr val="accent6">
                  <a:lumMod val="60000"/>
                  <a:lumOff val="40000"/>
                </a:schemeClr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A4DBBE6B-CB92-7EE2-1747-7BFFD59317BE}"/>
                    </a:ext>
                  </a:extLst>
                </p:cNvPr>
                <p:cNvSpPr/>
                <p:nvPr/>
              </p:nvSpPr>
              <p:spPr>
                <a:xfrm>
                  <a:off x="5835713" y="3934681"/>
                  <a:ext cx="1980000" cy="720000"/>
                </a:xfrm>
                <a:prstGeom prst="roundRect">
                  <a:avLst/>
                </a:prstGeom>
                <a:grpFill/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err="1"/>
                    <a:t>pgAdmin</a:t>
                  </a:r>
                  <a:endParaRPr lang="en-US" sz="1400" b="1" dirty="0"/>
                </a:p>
              </p:txBody>
            </p:sp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46ECFD75-3142-39B5-430A-F3C91FED91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r="71500" b="-1336"/>
                <a:stretch/>
              </p:blipFill>
              <p:spPr>
                <a:xfrm>
                  <a:off x="6009190" y="4013894"/>
                  <a:ext cx="387470" cy="333612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A6A1743-677D-5F95-1B25-484C17B5B99D}"/>
                  </a:ext>
                </a:extLst>
              </p:cNvPr>
              <p:cNvGrpSpPr/>
              <p:nvPr/>
            </p:nvGrpSpPr>
            <p:grpSpPr>
              <a:xfrm>
                <a:off x="2700714" y="4907136"/>
                <a:ext cx="1980000" cy="720000"/>
                <a:chOff x="2977354" y="4308329"/>
                <a:chExt cx="1980000" cy="720000"/>
              </a:xfrm>
            </p:grpSpPr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4EFA733F-E124-5F59-2E32-4F85DB75E96C}"/>
                    </a:ext>
                  </a:extLst>
                </p:cNvPr>
                <p:cNvSpPr/>
                <p:nvPr/>
              </p:nvSpPr>
              <p:spPr>
                <a:xfrm>
                  <a:off x="2977354" y="4308329"/>
                  <a:ext cx="1980000" cy="720000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/>
                    <a:t>PostgreSQL</a:t>
                  </a:r>
                </a:p>
              </p:txBody>
            </p:sp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5D80E940-37AD-B51D-9D56-8756398CF3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r="71500" b="-1336"/>
                <a:stretch/>
              </p:blipFill>
              <p:spPr>
                <a:xfrm>
                  <a:off x="3154476" y="4406301"/>
                  <a:ext cx="387470" cy="33361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</p:pic>
          </p:grp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53F1397-F3CB-1EFE-F888-2615C4E14152}"/>
                  </a:ext>
                </a:extLst>
              </p:cNvPr>
              <p:cNvCxnSpPr>
                <a:stCxn id="56" idx="3"/>
                <a:endCxn id="48" idx="1"/>
              </p:cNvCxnSpPr>
              <p:nvPr/>
            </p:nvCxnSpPr>
            <p:spPr>
              <a:xfrm>
                <a:off x="2455018" y="4116635"/>
                <a:ext cx="245696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9F6DFE3-30D3-4835-5AD1-74DD1A9C3955}"/>
                  </a:ext>
                </a:extLst>
              </p:cNvPr>
              <p:cNvCxnSpPr>
                <a:stCxn id="48" idx="3"/>
                <a:endCxn id="52" idx="1"/>
              </p:cNvCxnSpPr>
              <p:nvPr/>
            </p:nvCxnSpPr>
            <p:spPr>
              <a:xfrm>
                <a:off x="4680714" y="4116635"/>
                <a:ext cx="331054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41EEF11-D8CB-6A36-600D-8C10059FEDF7}"/>
                  </a:ext>
                </a:extLst>
              </p:cNvPr>
              <p:cNvCxnSpPr>
                <a:endCxn id="57" idx="0"/>
              </p:cNvCxnSpPr>
              <p:nvPr/>
            </p:nvCxnSpPr>
            <p:spPr>
              <a:xfrm>
                <a:off x="3690714" y="4476635"/>
                <a:ext cx="0" cy="43050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A83CC05-51E1-2DB4-C4C8-B29987CE7E28}"/>
                  </a:ext>
                </a:extLst>
              </p:cNvPr>
              <p:cNvCxnSpPr>
                <a:stCxn id="57" idx="3"/>
              </p:cNvCxnSpPr>
              <p:nvPr/>
            </p:nvCxnSpPr>
            <p:spPr>
              <a:xfrm>
                <a:off x="4680714" y="5267136"/>
                <a:ext cx="331054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A3EEB52-2377-3A98-59D5-F4B9EBC2971A}"/>
                  </a:ext>
                </a:extLst>
              </p:cNvPr>
              <p:cNvGrpSpPr/>
              <p:nvPr/>
            </p:nvGrpSpPr>
            <p:grpSpPr>
              <a:xfrm>
                <a:off x="7561111" y="1346642"/>
                <a:ext cx="1980000" cy="720000"/>
                <a:chOff x="8407862" y="1475796"/>
                <a:chExt cx="1980000" cy="720000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4B1E7C7B-5F6D-A6BD-71C5-409AA0D34C29}"/>
                    </a:ext>
                  </a:extLst>
                </p:cNvPr>
                <p:cNvSpPr/>
                <p:nvPr/>
              </p:nvSpPr>
              <p:spPr>
                <a:xfrm>
                  <a:off x="8407862" y="1475796"/>
                  <a:ext cx="1980000" cy="720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err="1">
                      <a:solidFill>
                        <a:schemeClr val="tx2"/>
                      </a:solidFill>
                    </a:rPr>
                    <a:t>Jupyter</a:t>
                  </a:r>
                  <a:r>
                    <a:rPr lang="en-US" sz="1400" b="1" dirty="0">
                      <a:solidFill>
                        <a:schemeClr val="tx2"/>
                      </a:solidFill>
                    </a:rPr>
                    <a:t>  </a:t>
                  </a:r>
                </a:p>
                <a:p>
                  <a:pPr algn="ctr"/>
                  <a:r>
                    <a:rPr lang="en-US" sz="1400" b="1" dirty="0">
                      <a:solidFill>
                        <a:schemeClr val="tx2"/>
                      </a:solidFill>
                    </a:rPr>
                    <a:t>Notebook</a:t>
                  </a:r>
                </a:p>
              </p:txBody>
            </p:sp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1164756E-2AD7-8DB8-6CA2-1352D7A31C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0188" y="1494767"/>
                  <a:ext cx="342804" cy="342804"/>
                </a:xfrm>
                <a:prstGeom prst="rect">
                  <a:avLst/>
                </a:prstGeom>
              </p:spPr>
            </p:pic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2A6F187-5FDD-BE3E-0B4B-E8B5A4C55152}"/>
                  </a:ext>
                </a:extLst>
              </p:cNvPr>
              <p:cNvGrpSpPr/>
              <p:nvPr/>
            </p:nvGrpSpPr>
            <p:grpSpPr>
              <a:xfrm>
                <a:off x="7561111" y="2223278"/>
                <a:ext cx="1980000" cy="720000"/>
                <a:chOff x="8407862" y="1475796"/>
                <a:chExt cx="1980000" cy="720000"/>
              </a:xfrm>
            </p:grpSpPr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F7DAC545-2979-D47F-E8BB-696D92FAF0B4}"/>
                    </a:ext>
                  </a:extLst>
                </p:cNvPr>
                <p:cNvSpPr/>
                <p:nvPr/>
              </p:nvSpPr>
              <p:spPr>
                <a:xfrm>
                  <a:off x="8407862" y="1475796"/>
                  <a:ext cx="1980000" cy="720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err="1">
                      <a:solidFill>
                        <a:schemeClr val="tx2"/>
                      </a:solidFill>
                    </a:rPr>
                    <a:t>Jupyter</a:t>
                  </a:r>
                  <a:r>
                    <a:rPr lang="en-US" sz="1400" b="1" dirty="0">
                      <a:solidFill>
                        <a:schemeClr val="tx2"/>
                      </a:solidFill>
                    </a:rPr>
                    <a:t>  </a:t>
                  </a:r>
                </a:p>
                <a:p>
                  <a:pPr algn="ctr"/>
                  <a:r>
                    <a:rPr lang="en-US" sz="1400" b="1" dirty="0">
                      <a:solidFill>
                        <a:schemeClr val="tx2"/>
                      </a:solidFill>
                    </a:rPr>
                    <a:t>Notebook</a:t>
                  </a:r>
                </a:p>
              </p:txBody>
            </p:sp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FE86C3D5-A30D-A9F0-EBB1-21ADB1197E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0188" y="1494767"/>
                  <a:ext cx="342804" cy="342804"/>
                </a:xfrm>
                <a:prstGeom prst="rect">
                  <a:avLst/>
                </a:prstGeom>
              </p:spPr>
            </p:pic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DDBF900-CFE0-7631-93A9-8AADC8BF92C1}"/>
                  </a:ext>
                </a:extLst>
              </p:cNvPr>
              <p:cNvGrpSpPr/>
              <p:nvPr/>
            </p:nvGrpSpPr>
            <p:grpSpPr>
              <a:xfrm>
                <a:off x="7561110" y="3122369"/>
                <a:ext cx="1980000" cy="720000"/>
                <a:chOff x="8407862" y="1475796"/>
                <a:chExt cx="1980000" cy="720000"/>
              </a:xfrm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8AFFD592-79DA-8462-D961-5DA76573CEBA}"/>
                    </a:ext>
                  </a:extLst>
                </p:cNvPr>
                <p:cNvSpPr/>
                <p:nvPr/>
              </p:nvSpPr>
              <p:spPr>
                <a:xfrm>
                  <a:off x="8407862" y="1475796"/>
                  <a:ext cx="1980000" cy="720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err="1">
                      <a:solidFill>
                        <a:schemeClr val="tx2"/>
                      </a:solidFill>
                    </a:rPr>
                    <a:t>Jupyter</a:t>
                  </a:r>
                  <a:r>
                    <a:rPr lang="en-US" sz="1400" b="1" dirty="0">
                      <a:solidFill>
                        <a:schemeClr val="tx2"/>
                      </a:solidFill>
                    </a:rPr>
                    <a:t>  </a:t>
                  </a:r>
                </a:p>
                <a:p>
                  <a:pPr algn="ctr"/>
                  <a:r>
                    <a:rPr lang="en-US" sz="1400" b="1" dirty="0">
                      <a:solidFill>
                        <a:schemeClr val="tx2"/>
                      </a:solidFill>
                    </a:rPr>
                    <a:t>Notebook</a:t>
                  </a:r>
                </a:p>
              </p:txBody>
            </p:sp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9CB21DE5-F938-6BFB-3343-F94B92D760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0188" y="1494767"/>
                  <a:ext cx="342804" cy="342804"/>
                </a:xfrm>
                <a:prstGeom prst="rect">
                  <a:avLst/>
                </a:prstGeom>
              </p:spPr>
            </p:pic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C89EAD0-82A0-6A52-C179-12C3B55FF225}"/>
                  </a:ext>
                </a:extLst>
              </p:cNvPr>
              <p:cNvGrpSpPr/>
              <p:nvPr/>
            </p:nvGrpSpPr>
            <p:grpSpPr>
              <a:xfrm>
                <a:off x="9218995" y="2975214"/>
                <a:ext cx="2367271" cy="891559"/>
                <a:chOff x="9144030" y="2975214"/>
                <a:chExt cx="2367271" cy="891559"/>
              </a:xfrm>
            </p:grpSpPr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A981D3F5-CC44-4DEC-1CE7-27BBCC23AD10}"/>
                    </a:ext>
                  </a:extLst>
                </p:cNvPr>
                <p:cNvSpPr/>
                <p:nvPr/>
              </p:nvSpPr>
              <p:spPr>
                <a:xfrm>
                  <a:off x="9531301" y="3434773"/>
                  <a:ext cx="1980000" cy="432000"/>
                </a:xfrm>
                <a:prstGeom prst="roundRect">
                  <a:avLst/>
                </a:prstGeom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smtClean="0"/>
                    <a:t> </a:t>
                  </a:r>
                  <a:r>
                    <a:rPr lang="en-US" sz="1400" b="1" dirty="0" err="1" smtClean="0"/>
                    <a:t>Tensorboard</a:t>
                  </a:r>
                  <a:endParaRPr lang="en-US" sz="1400" b="1" dirty="0"/>
                </a:p>
              </p:txBody>
            </p:sp>
            <p:pic>
              <p:nvPicPr>
                <p:cNvPr id="60" name="Grafik 32">
                  <a:extLst>
                    <a:ext uri="{FF2B5EF4-FFF2-40B4-BE49-F238E27FC236}">
                      <a16:creationId xmlns:a16="http://schemas.microsoft.com/office/drawing/2014/main" id="{DB5409EE-4BB9-AAEB-2A05-F79266290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6543"/>
                <a:stretch/>
              </p:blipFill>
              <p:spPr>
                <a:xfrm>
                  <a:off x="9144030" y="3383627"/>
                  <a:ext cx="1337785" cy="477513"/>
                </a:xfrm>
                <a:prstGeom prst="rect">
                  <a:avLst/>
                </a:prstGeom>
              </p:spPr>
            </p:pic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CA4A266B-CE5E-DF8E-2BD0-7A296EBDC097}"/>
                    </a:ext>
                  </a:extLst>
                </p:cNvPr>
                <p:cNvGrpSpPr/>
                <p:nvPr/>
              </p:nvGrpSpPr>
              <p:grpSpPr>
                <a:xfrm>
                  <a:off x="9531301" y="2975214"/>
                  <a:ext cx="1980000" cy="569629"/>
                  <a:chOff x="9531301" y="4402382"/>
                  <a:chExt cx="1980000" cy="569629"/>
                </a:xfrm>
              </p:grpSpPr>
              <p:sp>
                <p:nvSpPr>
                  <p:cNvPr id="51" name="Rectangle: Rounded Corners 50">
                    <a:extLst>
                      <a:ext uri="{FF2B5EF4-FFF2-40B4-BE49-F238E27FC236}">
                        <a16:creationId xmlns:a16="http://schemas.microsoft.com/office/drawing/2014/main" id="{C4728485-820C-C41F-8E0B-3A76C482806E}"/>
                      </a:ext>
                    </a:extLst>
                  </p:cNvPr>
                  <p:cNvSpPr/>
                  <p:nvPr/>
                </p:nvSpPr>
                <p:spPr>
                  <a:xfrm>
                    <a:off x="9531301" y="4471199"/>
                    <a:ext cx="1980000" cy="432000"/>
                  </a:xfrm>
                  <a:prstGeom prst="round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dirty="0" smtClean="0"/>
                      <a:t>   ML </a:t>
                    </a:r>
                    <a:r>
                      <a:rPr lang="en-US" sz="1400" b="1" dirty="0"/>
                      <a:t>Flow</a:t>
                    </a:r>
                  </a:p>
                </p:txBody>
              </p:sp>
              <p:pic>
                <p:nvPicPr>
                  <p:cNvPr id="40" name="Grafik 28">
                    <a:extLst>
                      <a:ext uri="{FF2B5EF4-FFF2-40B4-BE49-F238E27FC236}">
                        <a16:creationId xmlns:a16="http://schemas.microsoft.com/office/drawing/2014/main" id="{6C9B3947-E124-7348-5AF1-CFE23229BF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626994" y="4402382"/>
                    <a:ext cx="569629" cy="56962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51E44139-BCCC-62A3-6A66-679F2B7EC35F}"/>
                  </a:ext>
                </a:extLst>
              </p:cNvPr>
              <p:cNvGrpSpPr/>
              <p:nvPr/>
            </p:nvGrpSpPr>
            <p:grpSpPr>
              <a:xfrm>
                <a:off x="9218995" y="2121961"/>
                <a:ext cx="2367271" cy="891559"/>
                <a:chOff x="9144030" y="2975214"/>
                <a:chExt cx="2367271" cy="891559"/>
              </a:xfrm>
            </p:grpSpPr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E0A64978-268A-B587-5563-CF7E22D7CF75}"/>
                    </a:ext>
                  </a:extLst>
                </p:cNvPr>
                <p:cNvSpPr/>
                <p:nvPr/>
              </p:nvSpPr>
              <p:spPr>
                <a:xfrm>
                  <a:off x="9531301" y="3434773"/>
                  <a:ext cx="1980000" cy="432000"/>
                </a:xfrm>
                <a:prstGeom prst="roundRect">
                  <a:avLst/>
                </a:prstGeom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smtClean="0"/>
                    <a:t> </a:t>
                  </a:r>
                  <a:r>
                    <a:rPr lang="en-US" sz="1400" b="1" dirty="0" err="1" smtClean="0"/>
                    <a:t>Tensorboard</a:t>
                  </a:r>
                  <a:endParaRPr lang="en-US" sz="1400" b="1" dirty="0"/>
                </a:p>
              </p:txBody>
            </p:sp>
            <p:pic>
              <p:nvPicPr>
                <p:cNvPr id="73" name="Grafik 32">
                  <a:extLst>
                    <a:ext uri="{FF2B5EF4-FFF2-40B4-BE49-F238E27FC236}">
                      <a16:creationId xmlns:a16="http://schemas.microsoft.com/office/drawing/2014/main" id="{C905F3CB-492E-E0AC-3F9E-393E3514B8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6543"/>
                <a:stretch/>
              </p:blipFill>
              <p:spPr>
                <a:xfrm>
                  <a:off x="9144030" y="3383627"/>
                  <a:ext cx="1337785" cy="477513"/>
                </a:xfrm>
                <a:prstGeom prst="rect">
                  <a:avLst/>
                </a:prstGeom>
              </p:spPr>
            </p:pic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C444D615-BF46-89E7-35CD-0F9274D3CB9F}"/>
                    </a:ext>
                  </a:extLst>
                </p:cNvPr>
                <p:cNvGrpSpPr/>
                <p:nvPr/>
              </p:nvGrpSpPr>
              <p:grpSpPr>
                <a:xfrm>
                  <a:off x="9531301" y="2975214"/>
                  <a:ext cx="1980000" cy="569629"/>
                  <a:chOff x="9531301" y="4402382"/>
                  <a:chExt cx="1980000" cy="569629"/>
                </a:xfrm>
              </p:grpSpPr>
              <p:sp>
                <p:nvSpPr>
                  <p:cNvPr id="75" name="Rectangle: Rounded Corners 74">
                    <a:extLst>
                      <a:ext uri="{FF2B5EF4-FFF2-40B4-BE49-F238E27FC236}">
                        <a16:creationId xmlns:a16="http://schemas.microsoft.com/office/drawing/2014/main" id="{D62C0709-D940-377C-FCDD-79D0DDDBF989}"/>
                      </a:ext>
                    </a:extLst>
                  </p:cNvPr>
                  <p:cNvSpPr/>
                  <p:nvPr/>
                </p:nvSpPr>
                <p:spPr>
                  <a:xfrm>
                    <a:off x="9531301" y="4471199"/>
                    <a:ext cx="1980000" cy="432000"/>
                  </a:xfrm>
                  <a:prstGeom prst="round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dirty="0" smtClean="0"/>
                      <a:t>   ML </a:t>
                    </a:r>
                    <a:r>
                      <a:rPr lang="en-US" sz="1400" b="1" dirty="0"/>
                      <a:t>Flow</a:t>
                    </a:r>
                  </a:p>
                </p:txBody>
              </p:sp>
              <p:pic>
                <p:nvPicPr>
                  <p:cNvPr id="76" name="Grafik 28">
                    <a:extLst>
                      <a:ext uri="{FF2B5EF4-FFF2-40B4-BE49-F238E27FC236}">
                        <a16:creationId xmlns:a16="http://schemas.microsoft.com/office/drawing/2014/main" id="{06DC4E3F-FA7E-4E53-3B16-E04FCA55EC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626994" y="4402382"/>
                    <a:ext cx="569629" cy="56962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0B6E9002-57E8-8F08-166A-C0218DA93904}"/>
                  </a:ext>
                </a:extLst>
              </p:cNvPr>
              <p:cNvGrpSpPr/>
              <p:nvPr/>
            </p:nvGrpSpPr>
            <p:grpSpPr>
              <a:xfrm>
                <a:off x="9218995" y="1252667"/>
                <a:ext cx="2367271" cy="891559"/>
                <a:chOff x="9144030" y="2975214"/>
                <a:chExt cx="2367271" cy="891559"/>
              </a:xfrm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11D3345A-D820-7789-1E47-792359142ED8}"/>
                    </a:ext>
                  </a:extLst>
                </p:cNvPr>
                <p:cNvSpPr/>
                <p:nvPr/>
              </p:nvSpPr>
              <p:spPr>
                <a:xfrm>
                  <a:off x="9531301" y="3434773"/>
                  <a:ext cx="1980000" cy="432000"/>
                </a:xfrm>
                <a:prstGeom prst="roundRect">
                  <a:avLst/>
                </a:prstGeom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 smtClean="0"/>
                    <a:t> </a:t>
                  </a:r>
                  <a:r>
                    <a:rPr lang="en-US" sz="1400" b="1" dirty="0" err="1" smtClean="0"/>
                    <a:t>Tensorboard</a:t>
                  </a:r>
                  <a:endParaRPr lang="en-US" sz="1400" b="1" dirty="0"/>
                </a:p>
              </p:txBody>
            </p:sp>
            <p:pic>
              <p:nvPicPr>
                <p:cNvPr id="79" name="Grafik 32">
                  <a:extLst>
                    <a:ext uri="{FF2B5EF4-FFF2-40B4-BE49-F238E27FC236}">
                      <a16:creationId xmlns:a16="http://schemas.microsoft.com/office/drawing/2014/main" id="{352B1AB0-55FC-3FA8-2A48-5B5B91178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6543"/>
                <a:stretch/>
              </p:blipFill>
              <p:spPr>
                <a:xfrm>
                  <a:off x="9144030" y="3383627"/>
                  <a:ext cx="1337785" cy="477513"/>
                </a:xfrm>
                <a:prstGeom prst="rect">
                  <a:avLst/>
                </a:prstGeom>
              </p:spPr>
            </p:pic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B28BFED6-3771-3957-20D0-D19DE78A42FE}"/>
                    </a:ext>
                  </a:extLst>
                </p:cNvPr>
                <p:cNvGrpSpPr/>
                <p:nvPr/>
              </p:nvGrpSpPr>
              <p:grpSpPr>
                <a:xfrm>
                  <a:off x="9531301" y="2975214"/>
                  <a:ext cx="1980000" cy="569629"/>
                  <a:chOff x="9531301" y="4402382"/>
                  <a:chExt cx="1980000" cy="569629"/>
                </a:xfrm>
              </p:grpSpPr>
              <p:sp>
                <p:nvSpPr>
                  <p:cNvPr id="81" name="Rectangle: Rounded Corners 80">
                    <a:extLst>
                      <a:ext uri="{FF2B5EF4-FFF2-40B4-BE49-F238E27FC236}">
                        <a16:creationId xmlns:a16="http://schemas.microsoft.com/office/drawing/2014/main" id="{53681FC8-CA39-8B26-CE0F-C1BA9439467D}"/>
                      </a:ext>
                    </a:extLst>
                  </p:cNvPr>
                  <p:cNvSpPr/>
                  <p:nvPr/>
                </p:nvSpPr>
                <p:spPr>
                  <a:xfrm>
                    <a:off x="9531301" y="4471199"/>
                    <a:ext cx="1980000" cy="432000"/>
                  </a:xfrm>
                  <a:prstGeom prst="round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dirty="0"/>
                      <a:t> </a:t>
                    </a:r>
                    <a:r>
                      <a:rPr lang="en-US" sz="1400" b="1" dirty="0" smtClean="0"/>
                      <a:t>  </a:t>
                    </a:r>
                    <a:r>
                      <a:rPr lang="en-US" sz="1400" b="1" dirty="0" smtClean="0"/>
                      <a:t>ML </a:t>
                    </a:r>
                    <a:r>
                      <a:rPr lang="en-US" sz="1400" b="1" dirty="0"/>
                      <a:t>Flow</a:t>
                    </a:r>
                  </a:p>
                </p:txBody>
              </p:sp>
              <p:pic>
                <p:nvPicPr>
                  <p:cNvPr id="82" name="Grafik 28">
                    <a:extLst>
                      <a:ext uri="{FF2B5EF4-FFF2-40B4-BE49-F238E27FC236}">
                        <a16:creationId xmlns:a16="http://schemas.microsoft.com/office/drawing/2014/main" id="{E5425A90-F32E-61A8-9F72-8F6835741F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626994" y="4402382"/>
                    <a:ext cx="569629" cy="56962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80479D4-D48B-BF76-5488-CCF69DDD3E79}"/>
                  </a:ext>
                </a:extLst>
              </p:cNvPr>
              <p:cNvSpPr/>
              <p:nvPr/>
            </p:nvSpPr>
            <p:spPr>
              <a:xfrm>
                <a:off x="7400263" y="1321484"/>
                <a:ext cx="4295554" cy="81711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D974C083-C15B-AF37-1209-CAFA1E7D5663}"/>
                  </a:ext>
                </a:extLst>
              </p:cNvPr>
              <p:cNvSpPr/>
              <p:nvPr/>
            </p:nvSpPr>
            <p:spPr>
              <a:xfrm>
                <a:off x="7400263" y="2187517"/>
                <a:ext cx="4295554" cy="81711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34D33F6E-F91A-1D29-36F2-0BC508E68DF0}"/>
                  </a:ext>
                </a:extLst>
              </p:cNvPr>
              <p:cNvSpPr/>
              <p:nvPr/>
            </p:nvSpPr>
            <p:spPr>
              <a:xfrm>
                <a:off x="7400263" y="3060876"/>
                <a:ext cx="4295554" cy="81711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5BD656D-04D3-C14D-428D-67026A97C72E}"/>
                  </a:ext>
                </a:extLst>
              </p:cNvPr>
              <p:cNvSpPr txBox="1"/>
              <p:nvPr/>
            </p:nvSpPr>
            <p:spPr>
              <a:xfrm rot="16200000">
                <a:off x="6895045" y="2438456"/>
                <a:ext cx="761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/>
                  <a:t>user</a:t>
                </a:r>
                <a:r>
                  <a:rPr lang="de-DE" dirty="0"/>
                  <a:t> 2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9AD5132-C224-8EB5-7E87-75C89FE956B0}"/>
                  </a:ext>
                </a:extLst>
              </p:cNvPr>
              <p:cNvSpPr txBox="1"/>
              <p:nvPr/>
            </p:nvSpPr>
            <p:spPr>
              <a:xfrm rot="16200000">
                <a:off x="6876714" y="1489811"/>
                <a:ext cx="761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/>
                  <a:t>user</a:t>
                </a:r>
                <a:r>
                  <a:rPr lang="de-DE" dirty="0"/>
                  <a:t> 3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6F4928F-F11C-F50F-3054-0DC576863DC8}"/>
                  </a:ext>
                </a:extLst>
              </p:cNvPr>
              <p:cNvSpPr txBox="1"/>
              <p:nvPr/>
            </p:nvSpPr>
            <p:spPr>
              <a:xfrm rot="16200000">
                <a:off x="6882246" y="3374358"/>
                <a:ext cx="761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/>
                  <a:t>user</a:t>
                </a:r>
                <a:r>
                  <a:rPr lang="de-DE" dirty="0"/>
                  <a:t> 1</a:t>
                </a:r>
              </a:p>
            </p:txBody>
          </p:sp>
          <p:cxnSp>
            <p:nvCxnSpPr>
              <p:cNvPr id="89" name="Connector: Elbow 88">
                <a:extLst>
                  <a:ext uri="{FF2B5EF4-FFF2-40B4-BE49-F238E27FC236}">
                    <a16:creationId xmlns:a16="http://schemas.microsoft.com/office/drawing/2014/main" id="{54F99709-3016-624D-8386-EBB1EB300F3A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6991768" y="3877986"/>
                <a:ext cx="2556272" cy="288086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7488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EnerTEF Colour Palette">
      <a:dk1>
        <a:srgbClr val="202020"/>
      </a:dk1>
      <a:lt1>
        <a:sysClr val="window" lastClr="FFFFFF"/>
      </a:lt1>
      <a:dk2>
        <a:srgbClr val="202020"/>
      </a:dk2>
      <a:lt2>
        <a:srgbClr val="FFFFFF"/>
      </a:lt2>
      <a:accent1>
        <a:srgbClr val="FF985B"/>
      </a:accent1>
      <a:accent2>
        <a:srgbClr val="FF985B"/>
      </a:accent2>
      <a:accent3>
        <a:srgbClr val="EE597E"/>
      </a:accent3>
      <a:accent4>
        <a:srgbClr val="EE597E"/>
      </a:accent4>
      <a:accent5>
        <a:srgbClr val="EE597E"/>
      </a:accent5>
      <a:accent6>
        <a:srgbClr val="C83BD0"/>
      </a:accent6>
      <a:hlink>
        <a:srgbClr val="C83BD0"/>
      </a:hlink>
      <a:folHlink>
        <a:srgbClr val="C83B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d6f1f9-2bf8-44da-838e-1b2725e95cc4">
      <Terms xmlns="http://schemas.microsoft.com/office/infopath/2007/PartnerControls"/>
    </lcf76f155ced4ddcb4097134ff3c332f>
    <TaxCatchAll xmlns="b0910254-413c-43eb-b901-b6d7241e9c8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D67E5FC62619C34DB3B640A9D857E257" ma:contentTypeVersion="13" ma:contentTypeDescription="Δημιουργία νέου εγγράφου" ma:contentTypeScope="" ma:versionID="02ed83514e2a8ece5fc72389023f9074">
  <xsd:schema xmlns:xsd="http://www.w3.org/2001/XMLSchema" xmlns:xs="http://www.w3.org/2001/XMLSchema" xmlns:p="http://schemas.microsoft.com/office/2006/metadata/properties" xmlns:ns2="97d6f1f9-2bf8-44da-838e-1b2725e95cc4" xmlns:ns3="b0910254-413c-43eb-b901-b6d7241e9c89" targetNamespace="http://schemas.microsoft.com/office/2006/metadata/properties" ma:root="true" ma:fieldsID="009edb55ebe230e8ddf4949dd81a9668" ns2:_="" ns3:_="">
    <xsd:import namespace="97d6f1f9-2bf8-44da-838e-1b2725e95cc4"/>
    <xsd:import namespace="b0910254-413c-43eb-b901-b6d7241e9c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d6f1f9-2bf8-44da-838e-1b2725e95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Ετικέτες εικόνας" ma:readOnly="false" ma:fieldId="{5cf76f15-5ced-4ddc-b409-7134ff3c332f}" ma:taxonomyMulti="true" ma:sspId="fed25f8e-50e6-4137-9d04-02130354ac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910254-413c-43eb-b901-b6d7241e9c8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e0df399-48ac-4893-90bf-0dc32b251a9d}" ma:internalName="TaxCatchAll" ma:showField="CatchAllData" ma:web="b0910254-413c-43eb-b901-b6d7241e9c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B1F61A-CA71-43F9-B44A-2FF555801AEA}">
  <ds:schemaRefs>
    <ds:schemaRef ds:uri="http://schemas.microsoft.com/office/2006/metadata/properties"/>
    <ds:schemaRef ds:uri="http://schemas.microsoft.com/office/infopath/2007/PartnerControls"/>
    <ds:schemaRef ds:uri="97d6f1f9-2bf8-44da-838e-1b2725e95cc4"/>
    <ds:schemaRef ds:uri="b0910254-413c-43eb-b901-b6d7241e9c89"/>
  </ds:schemaRefs>
</ds:datastoreItem>
</file>

<file path=customXml/itemProps2.xml><?xml version="1.0" encoding="utf-8"?>
<ds:datastoreItem xmlns:ds="http://schemas.openxmlformats.org/officeDocument/2006/customXml" ds:itemID="{58D07555-7A10-4015-B146-3C80CAEA14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D67ADE-2050-4F00-8A2C-B389C887E9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d6f1f9-2bf8-44da-838e-1b2725e95cc4"/>
    <ds:schemaRef ds:uri="b0910254-413c-43eb-b901-b6d7241e9c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151</Words>
  <Application>Microsoft Office PowerPoint</Application>
  <PresentationFormat>Breitbild</PresentationFormat>
  <Paragraphs>53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Custom Design</vt:lpstr>
      <vt:lpstr>WP3 T3.4  EnerTEF AI Experiment Workbench: AI experiments pipeline, model training and serving framework</vt:lpstr>
      <vt:lpstr>WP3 T3.4  EnerTEF AI Experiment Workbench:  AI experiments pipeline, model training and serving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WP3 T3.4  EnerTEF AI Experiment Workbench: AI experiments pipeline, model training and serving framework</dc:title>
  <dc:creator>Vasilis Kotrogiannis</dc:creator>
  <cp:lastModifiedBy>El-Hadj-Khalifa, Hazem</cp:lastModifiedBy>
  <cp:revision>40</cp:revision>
  <dcterms:created xsi:type="dcterms:W3CDTF">2024-10-15T14:10:45Z</dcterms:created>
  <dcterms:modified xsi:type="dcterms:W3CDTF">2025-10-13T07:52:59Z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0x010100D67E5FC62619C34DB3B640A9D857E257</vt:lpwstr>
  </property>
  <property fmtid="{D5CDD505-2E9C-101B-9397-08002B2CF9AE}" pid="3" name="MediaServiceImageTags">
    <vt:lpwstr/>
  </property>
</Properties>
</file>